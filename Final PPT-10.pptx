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82" r:id="rId5"/>
    <p:sldId id="260" r:id="rId6"/>
    <p:sldId id="283" r:id="rId7"/>
    <p:sldId id="284" r:id="rId8"/>
    <p:sldId id="272" r:id="rId9"/>
    <p:sldId id="263" r:id="rId10"/>
    <p:sldId id="268" r:id="rId11"/>
    <p:sldId id="273" r:id="rId12"/>
    <p:sldId id="274" r:id="rId13"/>
    <p:sldId id="279" r:id="rId14"/>
    <p:sldId id="280" r:id="rId15"/>
    <p:sldId id="271" r:id="rId16"/>
    <p:sldId id="275" r:id="rId17"/>
    <p:sldId id="265" r:id="rId18"/>
    <p:sldId id="266" r:id="rId19"/>
    <p:sldId id="267" r:id="rId20"/>
    <p:sldId id="277" r:id="rId21"/>
    <p:sldId id="276" r:id="rId2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5" d="100"/>
          <a:sy n="75" d="100"/>
        </p:scale>
        <p:origin x="474"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search?q=symmetric+encryption&amp;rlz=1C1ONGR_enIN1176IN1176&amp;oq=hybrid+encryption+moels&amp;gs_lcrp=EgZjaHJvbWUyBggAEEUYOTIICAEQABgWGB4yDQgCEAAYhgMYgAQYigUyCggDEAAYgAQYogQyCggEEAAYgAQYogQyBwgFEAAY7wUyBwgGEAAY7wUyCggHEAAYogQYiQXSAQg2NTY1ajBqN6gCALACAA&amp;sourceid=chrome&amp;ie=UTF-8&amp;ved=2ahUKEwi24oft5ZKSAxXrUGcHHdv4LE4QgK4QegQIARAE"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www.google.com/search?q=asymmetric+encryption&amp;rlz=1C1ONGR_enIN1176IN1176&amp;oq=hybrid+encryption+moels&amp;gs_lcrp=EgZjaHJvbWUyBggAEEUYOTIICAEQABgWGB4yDQgCEAAYhgMYgAQYigUyCggDEAAYgAQYogQyCggEEAAYgAQYogQyBwgFEAAY7wUyBwgGEAAY7wUyCggHEAAYogQYiQXSAQg2NTY1ajBqN6gCALACAA&amp;sourceid=chrome&amp;ie=UTF-8&amp;ved=2ahUKEwi24oft5ZKSAxXrUGcHHdv4LE4QgK4QegQIARA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1FF"/>
        </a:solidFill>
        <a:effectLst/>
      </p:bgPr>
    </p:bg>
    <p:spTree>
      <p:nvGrpSpPr>
        <p:cNvPr id="1" name=""/>
        <p:cNvGrpSpPr/>
        <p:nvPr/>
      </p:nvGrpSpPr>
      <p:grpSpPr>
        <a:xfrm>
          <a:off x="0" y="0"/>
          <a:ext cx="0" cy="0"/>
          <a:chOff x="0" y="0"/>
          <a:chExt cx="0" cy="0"/>
        </a:xfrm>
      </p:grpSpPr>
      <p:grpSp>
        <p:nvGrpSpPr>
          <p:cNvPr id="2" name="Group 2"/>
          <p:cNvGrpSpPr/>
          <p:nvPr/>
        </p:nvGrpSpPr>
        <p:grpSpPr>
          <a:xfrm>
            <a:off x="472835" y="327522"/>
            <a:ext cx="2718558" cy="2254672"/>
            <a:chOff x="0" y="0"/>
            <a:chExt cx="16537991" cy="13716000"/>
          </a:xfrm>
        </p:grpSpPr>
        <p:sp>
          <p:nvSpPr>
            <p:cNvPr id="3" name="Freeform 3"/>
            <p:cNvSpPr/>
            <p:nvPr/>
          </p:nvSpPr>
          <p:spPr>
            <a:xfrm>
              <a:off x="0" y="0"/>
              <a:ext cx="16537991" cy="13716000"/>
            </a:xfrm>
            <a:custGeom>
              <a:avLst/>
              <a:gdLst/>
              <a:ahLst/>
              <a:cxnLst/>
              <a:rect l="l" t="t" r="r" b="b"/>
              <a:pathLst>
                <a:path w="16537991" h="13716000">
                  <a:moveTo>
                    <a:pt x="0" y="0"/>
                  </a:moveTo>
                  <a:lnTo>
                    <a:pt x="16537991" y="0"/>
                  </a:lnTo>
                  <a:lnTo>
                    <a:pt x="16537991" y="13716000"/>
                  </a:lnTo>
                  <a:lnTo>
                    <a:pt x="0" y="13716000"/>
                  </a:lnTo>
                  <a:close/>
                </a:path>
              </a:pathLst>
            </a:custGeom>
            <a:blipFill>
              <a:blip r:embed="rId3">
                <a:alphaModFix amt="74900"/>
              </a:blip>
              <a:stretch>
                <a:fillRect l="-1037" r="-1037" b="-14333"/>
              </a:stretch>
            </a:blipFill>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3429000" y="835404"/>
            <a:ext cx="4358450" cy="1720722"/>
            <a:chOff x="0" y="0"/>
            <a:chExt cx="25256725" cy="12566187"/>
          </a:xfrm>
        </p:grpSpPr>
        <p:sp>
          <p:nvSpPr>
            <p:cNvPr id="5" name="Freeform 5"/>
            <p:cNvSpPr/>
            <p:nvPr/>
          </p:nvSpPr>
          <p:spPr>
            <a:xfrm>
              <a:off x="0" y="0"/>
              <a:ext cx="25256725" cy="12566187"/>
            </a:xfrm>
            <a:custGeom>
              <a:avLst/>
              <a:gdLst/>
              <a:ahLst/>
              <a:cxnLst/>
              <a:rect l="l" t="t" r="r" b="b"/>
              <a:pathLst>
                <a:path w="25256725" h="12566187">
                  <a:moveTo>
                    <a:pt x="0" y="0"/>
                  </a:moveTo>
                  <a:lnTo>
                    <a:pt x="25256725" y="0"/>
                  </a:lnTo>
                  <a:lnTo>
                    <a:pt x="25256725" y="12566187"/>
                  </a:lnTo>
                  <a:lnTo>
                    <a:pt x="0" y="12566187"/>
                  </a:lnTo>
                  <a:close/>
                </a:path>
              </a:pathLst>
            </a:custGeom>
            <a:blipFill>
              <a:blip r:embed="rId4"/>
              <a:stretch>
                <a:fillRect t="-1163" r="-21531" b="-1163"/>
              </a:stretch>
            </a:blipFill>
          </p:spPr>
          <p:txBody>
            <a:bodyPr/>
            <a:lstStyle/>
            <a:p>
              <a:endParaRPr lang="en-US" dirty="0">
                <a:latin typeface="Times New Roman" panose="02020603050405020304" pitchFamily="18" charset="0"/>
                <a:cs typeface="Times New Roman" panose="02020603050405020304" pitchFamily="18" charset="0"/>
              </a:endParaRPr>
            </a:p>
          </p:txBody>
        </p:sp>
      </p:grpSp>
      <p:sp>
        <p:nvSpPr>
          <p:cNvPr id="6" name="Freeform 6"/>
          <p:cNvSpPr/>
          <p:nvPr/>
        </p:nvSpPr>
        <p:spPr>
          <a:xfrm>
            <a:off x="9711499" y="269948"/>
            <a:ext cx="2675599" cy="2312246"/>
          </a:xfrm>
          <a:custGeom>
            <a:avLst/>
            <a:gdLst/>
            <a:ahLst/>
            <a:cxnLst/>
            <a:rect l="l" t="t" r="r" b="b"/>
            <a:pathLst>
              <a:path w="2675599" h="2312246">
                <a:moveTo>
                  <a:pt x="0" y="0"/>
                </a:moveTo>
                <a:lnTo>
                  <a:pt x="2675600" y="0"/>
                </a:lnTo>
                <a:lnTo>
                  <a:pt x="2675600" y="2312246"/>
                </a:lnTo>
                <a:lnTo>
                  <a:pt x="0" y="2312246"/>
                </a:lnTo>
                <a:lnTo>
                  <a:pt x="0" y="0"/>
                </a:lnTo>
                <a:close/>
              </a:path>
            </a:pathLst>
          </a:custGeom>
          <a:blipFill>
            <a:blip r:embed="rId5"/>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
        <p:nvSpPr>
          <p:cNvPr id="7" name="Freeform 7"/>
          <p:cNvSpPr/>
          <p:nvPr/>
        </p:nvSpPr>
        <p:spPr>
          <a:xfrm>
            <a:off x="14431873" y="0"/>
            <a:ext cx="2693772" cy="2693772"/>
          </a:xfrm>
          <a:custGeom>
            <a:avLst/>
            <a:gdLst/>
            <a:ahLst/>
            <a:cxnLst/>
            <a:rect l="l" t="t" r="r" b="b"/>
            <a:pathLst>
              <a:path w="2693772" h="2693772">
                <a:moveTo>
                  <a:pt x="0" y="0"/>
                </a:moveTo>
                <a:lnTo>
                  <a:pt x="2693772" y="0"/>
                </a:lnTo>
                <a:lnTo>
                  <a:pt x="2693772" y="2693772"/>
                </a:lnTo>
                <a:lnTo>
                  <a:pt x="0" y="2693772"/>
                </a:lnTo>
                <a:lnTo>
                  <a:pt x="0" y="0"/>
                </a:lnTo>
                <a:close/>
              </a:path>
            </a:pathLst>
          </a:custGeom>
          <a:blipFill>
            <a:blip r:embed="rId6"/>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
        <p:nvSpPr>
          <p:cNvPr id="8" name="TextBox 8"/>
          <p:cNvSpPr txBox="1"/>
          <p:nvPr/>
        </p:nvSpPr>
        <p:spPr>
          <a:xfrm>
            <a:off x="472835" y="3310509"/>
            <a:ext cx="17125645" cy="576504"/>
          </a:xfrm>
          <a:prstGeom prst="rect">
            <a:avLst/>
          </a:prstGeom>
        </p:spPr>
        <p:txBody>
          <a:bodyPr lIns="0" tIns="0" rIns="0" bIns="0" rtlCol="0" anchor="t">
            <a:spAutoFit/>
          </a:bodyPr>
          <a:lstStyle/>
          <a:p>
            <a:pPr algn="ctr">
              <a:lnSpc>
                <a:spcPts val="4900"/>
              </a:lnSpc>
            </a:pPr>
            <a:r>
              <a:rPr lang="en-US" sz="3500" b="1" dirty="0">
                <a:solidFill>
                  <a:srgbClr val="5B9BD5"/>
                </a:solidFill>
                <a:latin typeface="Times New Roman" panose="02020603050405020304" pitchFamily="18" charset="0"/>
                <a:ea typeface="Times New Roman"/>
                <a:cs typeface="Times New Roman" panose="02020603050405020304" pitchFamily="18" charset="0"/>
                <a:sym typeface="Times New Roman"/>
              </a:rPr>
              <a:t>DEPARTMENT OF COMPUTER SCIENCE AND INFORMATION TECHNOLOGY</a:t>
            </a:r>
          </a:p>
        </p:txBody>
      </p:sp>
      <p:sp>
        <p:nvSpPr>
          <p:cNvPr id="9" name="TextBox 9"/>
          <p:cNvSpPr txBox="1"/>
          <p:nvPr/>
        </p:nvSpPr>
        <p:spPr>
          <a:xfrm>
            <a:off x="705155" y="4180227"/>
            <a:ext cx="17125645" cy="5326202"/>
          </a:xfrm>
          <a:prstGeom prst="rect">
            <a:avLst/>
          </a:prstGeom>
        </p:spPr>
        <p:txBody>
          <a:bodyPr wrap="square" lIns="0" tIns="0" rIns="0" bIns="0" rtlCol="0" anchor="t">
            <a:spAutoFit/>
          </a:bodyPr>
          <a:lstStyle/>
          <a:p>
            <a:pPr algn="ctr">
              <a:lnSpc>
                <a:spcPts val="4200"/>
              </a:lnSpc>
            </a:pPr>
            <a:r>
              <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3000" dirty="0">
                <a:solidFill>
                  <a:srgbClr val="FF0000"/>
                </a:solidFill>
                <a:latin typeface="Times New Roman" panose="02020603050405020304" pitchFamily="18" charset="0"/>
                <a:ea typeface="Times New Roman"/>
                <a:cs typeface="Times New Roman" panose="02020603050405020304" pitchFamily="18" charset="0"/>
                <a:sym typeface="Times New Roman"/>
              </a:rPr>
              <a:t>TITLE  OF THE PROJECT </a:t>
            </a:r>
            <a:r>
              <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ctr">
              <a:lnSpc>
                <a:spcPts val="4200"/>
              </a:lnSpc>
            </a:pPr>
            <a:r>
              <a:rPr lang="en-US" sz="3200" dirty="0">
                <a:latin typeface="Times New Roman" panose="02020603050405020304" pitchFamily="18" charset="0"/>
                <a:cs typeface="Times New Roman" panose="02020603050405020304" pitchFamily="18" charset="0"/>
              </a:rPr>
              <a:t>Design and Educational Implementation of a Web-Based Hybrid Encryption System Using Django</a:t>
            </a:r>
            <a:endParaRPr lang="en-US" sz="32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l">
              <a:lnSpc>
                <a:spcPts val="2971"/>
              </a:lnSpc>
            </a:pPr>
            <a:endPar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l">
              <a:lnSpc>
                <a:spcPts val="2971"/>
              </a:lnSpc>
            </a:pPr>
            <a:r>
              <a:rPr lang="en-US" sz="2476"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l">
              <a:lnSpc>
                <a:spcPts val="3240"/>
              </a:lnSpc>
            </a:pPr>
            <a:r>
              <a:rPr lang="en-US" sz="2700" dirty="0">
                <a:solidFill>
                  <a:srgbClr val="2E75B6"/>
                </a:solidFill>
                <a:latin typeface="Times New Roman" panose="02020603050405020304" pitchFamily="18" charset="0"/>
                <a:ea typeface="Times New Roman"/>
                <a:cs typeface="Times New Roman" panose="02020603050405020304" pitchFamily="18" charset="0"/>
                <a:sym typeface="Times New Roman"/>
              </a:rPr>
              <a:t>                             Presented by :                                         </a:t>
            </a:r>
          </a:p>
          <a:p>
            <a:pPr algn="l">
              <a:lnSpc>
                <a:spcPts val="3240"/>
              </a:lnSpc>
            </a:pPr>
            <a:r>
              <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rPr>
              <a:t>                K Kalyani                [22KD1A0729]</a:t>
            </a:r>
          </a:p>
          <a:p>
            <a:pPr algn="l">
              <a:lnSpc>
                <a:spcPts val="3240"/>
              </a:lnSpc>
            </a:pPr>
            <a:r>
              <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rPr>
              <a:t>                R Manasa                 [22KD1A0751]</a:t>
            </a:r>
          </a:p>
          <a:p>
            <a:pPr algn="l">
              <a:lnSpc>
                <a:spcPts val="3240"/>
              </a:lnSpc>
            </a:pPr>
            <a:r>
              <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rPr>
              <a:t>                T Shyam kumar       [22KD1A0759]</a:t>
            </a:r>
          </a:p>
          <a:p>
            <a:pPr algn="l">
              <a:lnSpc>
                <a:spcPts val="3240"/>
              </a:lnSpc>
            </a:pPr>
            <a:r>
              <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rPr>
              <a:t>                K Sai Prakash          [22KD1A0728] </a:t>
            </a:r>
          </a:p>
          <a:p>
            <a:pPr>
              <a:lnSpc>
                <a:spcPts val="6009"/>
              </a:lnSpc>
            </a:pPr>
            <a:r>
              <a:rPr lang="en-US" sz="2700" dirty="0">
                <a:solidFill>
                  <a:srgbClr val="000000"/>
                </a:solidFill>
                <a:latin typeface="Times New Roman" panose="02020603050405020304" pitchFamily="18" charset="0"/>
                <a:cs typeface="Times New Roman" panose="02020603050405020304" pitchFamily="18" charset="0"/>
                <a:sym typeface="Times New Roman"/>
              </a:rPr>
              <a:t>        </a:t>
            </a:r>
          </a:p>
          <a:p>
            <a:pPr>
              <a:lnSpc>
                <a:spcPts val="6009"/>
              </a:lnSpc>
            </a:pPr>
            <a:r>
              <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10" name="TextBox 10"/>
          <p:cNvSpPr txBox="1"/>
          <p:nvPr/>
        </p:nvSpPr>
        <p:spPr>
          <a:xfrm>
            <a:off x="10368832" y="6057900"/>
            <a:ext cx="5754193" cy="1941195"/>
          </a:xfrm>
          <a:prstGeom prst="rect">
            <a:avLst/>
          </a:prstGeom>
        </p:spPr>
        <p:txBody>
          <a:bodyPr lIns="0" tIns="0" rIns="0" bIns="0" rtlCol="0" anchor="t">
            <a:spAutoFit/>
          </a:bodyPr>
          <a:lstStyle/>
          <a:p>
            <a:pPr algn="ctr">
              <a:lnSpc>
                <a:spcPts val="3779"/>
              </a:lnSpc>
            </a:pPr>
            <a:r>
              <a:rPr lang="en-US" sz="2700" b="1" dirty="0">
                <a:solidFill>
                  <a:srgbClr val="3D7EBB"/>
                </a:solidFill>
                <a:latin typeface="Times New Roman" panose="02020603050405020304" pitchFamily="18" charset="0"/>
                <a:ea typeface="Calibri (MS) Bold"/>
                <a:cs typeface="Times New Roman" panose="02020603050405020304" pitchFamily="18" charset="0"/>
                <a:sym typeface="Calibri (MS) Bold"/>
              </a:rPr>
              <a:t>Under Esteemed Guidance of:</a:t>
            </a:r>
          </a:p>
          <a:p>
            <a:pPr algn="ctr">
              <a:lnSpc>
                <a:spcPts val="3779"/>
              </a:lnSpc>
            </a:pPr>
            <a:r>
              <a:rPr lang="en-US" sz="2700" dirty="0">
                <a:solidFill>
                  <a:srgbClr val="000000"/>
                </a:solidFill>
                <a:latin typeface="Times New Roman" panose="02020603050405020304" pitchFamily="18" charset="0"/>
                <a:ea typeface="Calibri (MS)"/>
                <a:cs typeface="Times New Roman" panose="02020603050405020304" pitchFamily="18" charset="0"/>
                <a:sym typeface="Calibri (MS)"/>
              </a:rPr>
              <a:t>Mr. S.V.R Vara Prasad</a:t>
            </a:r>
          </a:p>
          <a:p>
            <a:pPr algn="ctr">
              <a:lnSpc>
                <a:spcPts val="3779"/>
              </a:lnSpc>
            </a:pPr>
            <a:r>
              <a:rPr lang="en-US" sz="2700" dirty="0">
                <a:solidFill>
                  <a:srgbClr val="000000"/>
                </a:solidFill>
                <a:latin typeface="Times New Roman" panose="02020603050405020304" pitchFamily="18" charset="0"/>
                <a:ea typeface="Calibri (MS)"/>
                <a:cs typeface="Times New Roman" panose="02020603050405020304" pitchFamily="18" charset="0"/>
                <a:sym typeface="Calibri (MS)"/>
              </a:rPr>
              <a:t>Assistant Professor</a:t>
            </a:r>
          </a:p>
          <a:p>
            <a:pPr algn="ctr">
              <a:lnSpc>
                <a:spcPts val="3779"/>
              </a:lnSpc>
            </a:pPr>
            <a:r>
              <a:rPr lang="en-US" sz="2700" dirty="0">
                <a:solidFill>
                  <a:srgbClr val="000000"/>
                </a:solidFill>
                <a:latin typeface="Times New Roman" panose="02020603050405020304" pitchFamily="18" charset="0"/>
                <a:ea typeface="Calibri (MS)"/>
                <a:cs typeface="Times New Roman" panose="02020603050405020304" pitchFamily="18" charset="0"/>
                <a:sym typeface="Calibri (MS)"/>
              </a:rPr>
              <a:t>CSIT-LIET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1FF"/>
        </a:solidFill>
        <a:effectLst/>
      </p:bgPr>
    </p:bg>
    <p:spTree>
      <p:nvGrpSpPr>
        <p:cNvPr id="1" name=""/>
        <p:cNvGrpSpPr/>
        <p:nvPr/>
      </p:nvGrpSpPr>
      <p:grpSpPr>
        <a:xfrm>
          <a:off x="0" y="0"/>
          <a:ext cx="0" cy="0"/>
          <a:chOff x="0" y="0"/>
          <a:chExt cx="0" cy="0"/>
        </a:xfrm>
      </p:grpSpPr>
      <p:sp>
        <p:nvSpPr>
          <p:cNvPr id="2" name="TextBox 2"/>
          <p:cNvSpPr txBox="1"/>
          <p:nvPr/>
        </p:nvSpPr>
        <p:spPr>
          <a:xfrm>
            <a:off x="630072" y="419100"/>
            <a:ext cx="2973902" cy="860813"/>
          </a:xfrm>
          <a:prstGeom prst="rect">
            <a:avLst/>
          </a:prstGeom>
        </p:spPr>
        <p:txBody>
          <a:bodyPr wrap="square" lIns="0" tIns="0" rIns="0" bIns="0" rtlCol="0" anchor="t">
            <a:spAutoFit/>
          </a:bodyPr>
          <a:lstStyle/>
          <a:p>
            <a:pPr algn="ctr">
              <a:lnSpc>
                <a:spcPts val="7699"/>
              </a:lnSpc>
            </a:pP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Abstract :</a:t>
            </a:r>
          </a:p>
        </p:txBody>
      </p:sp>
      <p:sp>
        <p:nvSpPr>
          <p:cNvPr id="3" name="TextBox 3"/>
          <p:cNvSpPr txBox="1"/>
          <p:nvPr/>
        </p:nvSpPr>
        <p:spPr>
          <a:xfrm>
            <a:off x="609600" y="1974850"/>
            <a:ext cx="7015162" cy="580736"/>
          </a:xfrm>
          <a:prstGeom prst="rect">
            <a:avLst/>
          </a:prstGeom>
        </p:spPr>
        <p:txBody>
          <a:bodyPr lIns="0" tIns="0" rIns="0" bIns="0" rtlCol="0" anchor="t">
            <a:spAutoFit/>
          </a:bodyPr>
          <a:lstStyle/>
          <a:p>
            <a:pPr marL="863599" lvl="1" indent="-431800">
              <a:lnSpc>
                <a:spcPts val="5599"/>
              </a:lnSpc>
              <a:buFont typeface="Arial"/>
              <a:buChar char="•"/>
            </a:pPr>
            <a:endPar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7" name="TextBox 6">
            <a:extLst>
              <a:ext uri="{FF2B5EF4-FFF2-40B4-BE49-F238E27FC236}">
                <a16:creationId xmlns:a16="http://schemas.microsoft.com/office/drawing/2014/main" id="{03D0943B-2C81-D038-CFF9-312EAC848EC5}"/>
              </a:ext>
            </a:extLst>
          </p:cNvPr>
          <p:cNvSpPr txBox="1"/>
          <p:nvPr/>
        </p:nvSpPr>
        <p:spPr>
          <a:xfrm>
            <a:off x="914400" y="1790700"/>
            <a:ext cx="16764000" cy="7478970"/>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increasing reliance on web applications for handling sensitive user data has made application-level security a critical requirement. Although cryptographic algorithms are well established, their practical integration into web frameworks is often limited to theoretical demonstrations or isolated scripts.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paper presents the design and implementation of a web-based encryption system developed using the Django framework to demonstrate the practical application of cryptographic techniques in a real-time web environment.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allows authenticated users to perform secure text encryption and decryption using symmetric algorithms such as Advanced Encryption Standard (AES) and Triple Data Encryption Standard (3DES), while RSA is employed for secure symmetric key protection. Additionally, SHA256 hashing is used to ensure secure password storage and user authentication.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Experimental observations conducted on varying input sizes indicate that AES provides lower computational overhead compared to 3DES, while hybrid encryption introduces additional processing cost due to asymmetric key operations.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primary objective of this work is to provide an educational and practical reference for implementing cryptography within web applications. The results confirm that established encryption algorithms can be effectively combined with modern web frameworks to achieve secure and user-accessible data protection.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work is intended primarily as an educational and practical implementation reference rather than a proposal of new cryptographic algorithms.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1FF"/>
        </a:solidFill>
        <a:effectLst/>
      </p:bgPr>
    </p:bg>
    <p:spTree>
      <p:nvGrpSpPr>
        <p:cNvPr id="1" name=""/>
        <p:cNvGrpSpPr/>
        <p:nvPr/>
      </p:nvGrpSpPr>
      <p:grpSpPr>
        <a:xfrm>
          <a:off x="0" y="0"/>
          <a:ext cx="0" cy="0"/>
          <a:chOff x="0" y="0"/>
          <a:chExt cx="0" cy="0"/>
        </a:xfrm>
      </p:grpSpPr>
      <p:sp>
        <p:nvSpPr>
          <p:cNvPr id="5" name="TextBox 5"/>
          <p:cNvSpPr txBox="1"/>
          <p:nvPr/>
        </p:nvSpPr>
        <p:spPr>
          <a:xfrm>
            <a:off x="960358" y="1151534"/>
            <a:ext cx="3567151" cy="615553"/>
          </a:xfrm>
          <a:prstGeom prst="rect">
            <a:avLst/>
          </a:prstGeom>
        </p:spPr>
        <p:txBody>
          <a:bodyPr lIns="0" tIns="0" rIns="0" bIns="0" rtlCol="0" anchor="t">
            <a:spAutoFit/>
          </a:bodyPr>
          <a:lstStyle/>
          <a:p>
            <a:pPr algn="l">
              <a:lnSpc>
                <a:spcPts val="4799"/>
              </a:lnSpc>
            </a:pP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Introduction :</a:t>
            </a:r>
          </a:p>
        </p:txBody>
      </p:sp>
      <p:sp>
        <p:nvSpPr>
          <p:cNvPr id="6" name="TextBox 6"/>
          <p:cNvSpPr txBox="1"/>
          <p:nvPr/>
        </p:nvSpPr>
        <p:spPr>
          <a:xfrm>
            <a:off x="960358" y="1943100"/>
            <a:ext cx="16946642" cy="5508880"/>
          </a:xfrm>
          <a:prstGeom prst="rect">
            <a:avLst/>
          </a:prstGeom>
        </p:spPr>
        <p:txBody>
          <a:bodyPr wrap="square" lIns="0" tIns="0" rIns="0" bIns="0" rtlCol="0" anchor="t">
            <a:spAutoFit/>
          </a:bodyPr>
          <a:lstStyle/>
          <a:p>
            <a:pPr algn="just">
              <a:lnSpc>
                <a:spcPct val="250000"/>
              </a:lnSpc>
            </a:pPr>
            <a:endParaRPr lang="en-US" sz="2799"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With the rapid growth of the internet and cloud computing, a large amount of data is being shared online every day. </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data often contains sensitive information like passwords, personal details, and financial </a:t>
            </a:r>
            <a:r>
              <a:rPr lang="en-US" sz="2400" dirty="0" err="1">
                <a:latin typeface="Times New Roman" panose="02020603050405020304" pitchFamily="18" charset="0"/>
                <a:cs typeface="Times New Roman" panose="02020603050405020304" pitchFamily="18" charset="0"/>
              </a:rPr>
              <a:t>records.So</a:t>
            </a:r>
            <a:r>
              <a:rPr lang="en-US" sz="2400" dirty="0">
                <a:latin typeface="Times New Roman" panose="02020603050405020304" pitchFamily="18" charset="0"/>
                <a:cs typeface="Times New Roman" panose="02020603050405020304" pitchFamily="18" charset="0"/>
              </a:rPr>
              <a:t>, protecting this data has become very important.</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Traditional encryption methods have some limitations. AES is very fast and efficient, but it has a problem in securely sharing the key. On the other hand, RSA provides strong security, but it is slow when handling large data.</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overcome these issues, we use hybrid encryption, which combines AES and RSA. AES is used for fast data encryption, and RSA is used for secure key exchange. This provides both security and performance.</a:t>
            </a:r>
          </a:p>
          <a:p>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approach is widely used in real-world applications like HTTPS, banking systems, and cloud storage.</a:t>
            </a:r>
          </a:p>
        </p:txBody>
      </p:sp>
      <p:sp>
        <p:nvSpPr>
          <p:cNvPr id="10" name="Rectangle 4">
            <a:extLst>
              <a:ext uri="{FF2B5EF4-FFF2-40B4-BE49-F238E27FC236}">
                <a16:creationId xmlns:a16="http://schemas.microsoft.com/office/drawing/2014/main" id="{A20D91E4-FAE2-91F3-41D4-9F32608B043B}"/>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7BF77D-0340-160F-6F71-8F8A66A4B55E}"/>
              </a:ext>
            </a:extLst>
          </p:cNvPr>
          <p:cNvSpPr txBox="1"/>
          <p:nvPr/>
        </p:nvSpPr>
        <p:spPr>
          <a:xfrm>
            <a:off x="914399" y="1104900"/>
            <a:ext cx="16459200" cy="2431435"/>
          </a:xfrm>
          <a:prstGeom prst="rect">
            <a:avLst/>
          </a:prstGeom>
          <a:noFill/>
        </p:spPr>
        <p:txBody>
          <a:bodyPr wrap="square">
            <a:spAutoFit/>
          </a:bodyPr>
          <a:lstStyle/>
          <a:p>
            <a:pPr algn="just">
              <a:buNone/>
            </a:pPr>
            <a:r>
              <a:rPr lang="en-US" sz="2800" b="1" dirty="0">
                <a:latin typeface="Times New Roman" panose="02020603050405020304" pitchFamily="18" charset="0"/>
                <a:cs typeface="Times New Roman" panose="02020603050405020304" pitchFamily="18" charset="0"/>
              </a:rPr>
              <a:t>Problem Statement</a:t>
            </a:r>
          </a:p>
          <a:p>
            <a:pPr algn="just">
              <a:buNone/>
            </a:pPr>
            <a:endParaRPr lang="en-US" sz="2800" b="1"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Background: </a:t>
            </a:r>
            <a:r>
              <a:rPr lang="en-US" sz="2400" dirty="0">
                <a:latin typeface="Times New Roman" panose="02020603050405020304" pitchFamily="18" charset="0"/>
                <a:cs typeface="Times New Roman" panose="02020603050405020304" pitchFamily="18" charset="0"/>
              </a:rPr>
              <a:t>With the rapid increase in online data sharing and cloud storage, protecting sensitive information has become a major challenge. Data such as personal details,   passwords, and financial records are frequently transmitted over networks, making them vulnerable to cyber attacks and unauthorized access. Traditional encryption techniques have limitations in balancing security and performance.</a:t>
            </a:r>
          </a:p>
        </p:txBody>
      </p:sp>
      <p:sp>
        <p:nvSpPr>
          <p:cNvPr id="7" name="TextBox 6">
            <a:extLst>
              <a:ext uri="{FF2B5EF4-FFF2-40B4-BE49-F238E27FC236}">
                <a16:creationId xmlns:a16="http://schemas.microsoft.com/office/drawing/2014/main" id="{C7CFD117-CA04-041E-46DB-D90491FEC580}"/>
              </a:ext>
            </a:extLst>
          </p:cNvPr>
          <p:cNvSpPr txBox="1"/>
          <p:nvPr/>
        </p:nvSpPr>
        <p:spPr>
          <a:xfrm>
            <a:off x="1066800" y="3536335"/>
            <a:ext cx="16459200" cy="2554545"/>
          </a:xfrm>
          <a:prstGeom prst="rect">
            <a:avLst/>
          </a:prstGeom>
          <a:noFill/>
        </p:spPr>
        <p:txBody>
          <a:bodyPr wrap="square">
            <a:spAutoFit/>
          </a:bodyPr>
          <a:lstStyle/>
          <a:p>
            <a:pPr algn="just">
              <a:buNone/>
            </a:pPr>
            <a:r>
              <a:rPr lang="en-US" sz="2800" b="1" dirty="0">
                <a:latin typeface="Times New Roman" panose="02020603050405020304" pitchFamily="18" charset="0"/>
                <a:cs typeface="Times New Roman" panose="02020603050405020304" pitchFamily="18" charset="0"/>
              </a:rPr>
              <a:t>Challenges:</a:t>
            </a:r>
          </a:p>
          <a:p>
            <a:pPr algn="just">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AES (Symmetric Encryption): </a:t>
            </a:r>
            <a:r>
              <a:rPr lang="en-US" sz="2400" dirty="0">
                <a:latin typeface="Times New Roman" panose="02020603050405020304" pitchFamily="18" charset="0"/>
                <a:cs typeface="Times New Roman" panose="02020603050405020304" pitchFamily="18" charset="0"/>
              </a:rPr>
              <a:t>Provides high speed and efficiency for encrypting large amounts of data but relies on a single </a:t>
            </a:r>
          </a:p>
          <a:p>
            <a:pPr algn="just"/>
            <a:r>
              <a:rPr lang="en-US" sz="2400" dirty="0">
                <a:latin typeface="Times New Roman" panose="02020603050405020304" pitchFamily="18" charset="0"/>
                <a:cs typeface="Times New Roman" panose="02020603050405020304" pitchFamily="18" charset="0"/>
              </a:rPr>
              <a:t>                                                         secret key, making secure key distribution and management difficult.</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RSA (Asymmetric Encryption):</a:t>
            </a:r>
            <a:r>
              <a:rPr lang="en-US" sz="2400" dirty="0">
                <a:latin typeface="Times New Roman" panose="02020603050405020304" pitchFamily="18" charset="0"/>
                <a:cs typeface="Times New Roman" panose="02020603050405020304" pitchFamily="18" charset="0"/>
              </a:rPr>
              <a:t>Provides strong security and solves the key distribution problem but is computationally slow and </a:t>
            </a:r>
          </a:p>
          <a:p>
            <a:pPr algn="just"/>
            <a:r>
              <a:rPr lang="en-US" sz="2400" dirty="0">
                <a:latin typeface="Times New Roman" panose="02020603050405020304" pitchFamily="18" charset="0"/>
                <a:cs typeface="Times New Roman" panose="02020603050405020304" pitchFamily="18" charset="0"/>
              </a:rPr>
              <a:t>                                                          inefficient for encrypting large data</a:t>
            </a:r>
            <a:r>
              <a:rPr lang="en-US" dirty="0">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02039288-C01B-3237-FCE5-0E0B82C3C5FA}"/>
              </a:ext>
            </a:extLst>
          </p:cNvPr>
          <p:cNvSpPr txBox="1"/>
          <p:nvPr/>
        </p:nvSpPr>
        <p:spPr>
          <a:xfrm>
            <a:off x="914399" y="6373257"/>
            <a:ext cx="16459200" cy="2123658"/>
          </a:xfrm>
          <a:prstGeom prst="rect">
            <a:avLst/>
          </a:prstGeom>
          <a:noFill/>
        </p:spPr>
        <p:txBody>
          <a:bodyPr wrap="square">
            <a:spAutoFit/>
          </a:bodyPr>
          <a:lstStyle/>
          <a:p>
            <a:pPr algn="just">
              <a:buNone/>
            </a:pPr>
            <a:r>
              <a:rPr lang="en-US" sz="2400" b="1" dirty="0">
                <a:latin typeface="Times New Roman" panose="02020603050405020304" pitchFamily="18" charset="0"/>
                <a:cs typeface="Times New Roman" panose="02020603050405020304" pitchFamily="18" charset="0"/>
              </a:rPr>
              <a:t>Problem Statement: </a:t>
            </a:r>
            <a:r>
              <a:rPr lang="en-US" sz="2400" dirty="0">
                <a:latin typeface="Times New Roman" panose="02020603050405020304" pitchFamily="18" charset="0"/>
                <a:cs typeface="Times New Roman" panose="02020603050405020304" pitchFamily="18" charset="0"/>
              </a:rPr>
              <a:t>Existing encryption techniques either provide high speed (AES) or strong security (RSA), but not both. There is a need for a system that ensures secure key exchange while maintaining efficient performance for data encryption and decryption.</a:t>
            </a:r>
          </a:p>
          <a:p>
            <a:pPr algn="just">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Problem Definition: </a:t>
            </a:r>
            <a:r>
              <a:rPr lang="en-US" sz="2400" dirty="0">
                <a:latin typeface="Times New Roman" panose="02020603050405020304" pitchFamily="18" charset="0"/>
                <a:cs typeface="Times New Roman" panose="02020603050405020304" pitchFamily="18" charset="0"/>
              </a:rPr>
              <a:t>To design and implement a web-based hybrid encryption system using Django that combines the speed of AES encryption with the security of RSA key exchange, ensuring secure data transmission and efficient performance.</a:t>
            </a:r>
          </a:p>
        </p:txBody>
      </p:sp>
    </p:spTree>
    <p:extLst>
      <p:ext uri="{BB962C8B-B14F-4D97-AF65-F5344CB8AC3E}">
        <p14:creationId xmlns:p14="http://schemas.microsoft.com/office/powerpoint/2010/main" val="1530704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1FF"/>
        </a:solidFill>
        <a:effectLst/>
      </p:bgPr>
    </p:bg>
    <p:spTree>
      <p:nvGrpSpPr>
        <p:cNvPr id="1" name=""/>
        <p:cNvGrpSpPr/>
        <p:nvPr/>
      </p:nvGrpSpPr>
      <p:grpSpPr>
        <a:xfrm>
          <a:off x="0" y="0"/>
          <a:ext cx="0" cy="0"/>
          <a:chOff x="0" y="0"/>
          <a:chExt cx="0" cy="0"/>
        </a:xfrm>
      </p:grpSpPr>
      <p:sp>
        <p:nvSpPr>
          <p:cNvPr id="5" name="TextBox 5"/>
          <p:cNvSpPr txBox="1"/>
          <p:nvPr/>
        </p:nvSpPr>
        <p:spPr>
          <a:xfrm>
            <a:off x="1191263" y="556127"/>
            <a:ext cx="2581275" cy="697307"/>
          </a:xfrm>
          <a:prstGeom prst="rect">
            <a:avLst/>
          </a:prstGeom>
        </p:spPr>
        <p:txBody>
          <a:bodyPr lIns="0" tIns="0" rIns="0" bIns="0" rtlCol="0" anchor="t">
            <a:spAutoFit/>
          </a:bodyPr>
          <a:lstStyle/>
          <a:p>
            <a:pPr algn="l">
              <a:lnSpc>
                <a:spcPts val="6034"/>
              </a:lnSpc>
            </a:pPr>
            <a:r>
              <a:rPr lang="en-US" sz="3999"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Objectives: </a:t>
            </a:r>
          </a:p>
        </p:txBody>
      </p:sp>
      <p:sp>
        <p:nvSpPr>
          <p:cNvPr id="6" name="TextBox 6"/>
          <p:cNvSpPr txBox="1"/>
          <p:nvPr/>
        </p:nvSpPr>
        <p:spPr>
          <a:xfrm>
            <a:off x="1190959" y="1533144"/>
            <a:ext cx="15051748" cy="983987"/>
          </a:xfrm>
          <a:prstGeom prst="rect">
            <a:avLst/>
          </a:prstGeom>
        </p:spPr>
        <p:txBody>
          <a:bodyPr lIns="0" tIns="0" rIns="0" bIns="0" rtlCol="0" anchor="t">
            <a:spAutoFit/>
          </a:bodyPr>
          <a:lstStyle/>
          <a:p>
            <a:pPr algn="l">
              <a:lnSpc>
                <a:spcPts val="4079"/>
              </a:lnSpc>
            </a:pPr>
            <a:r>
              <a:rPr lang="en-US" sz="2400"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Main Aim: </a:t>
            </a:r>
            <a:r>
              <a:rPr lang="en-US" sz="2400" dirty="0">
                <a:solidFill>
                  <a:srgbClr val="00002E"/>
                </a:solidFill>
                <a:latin typeface="Times New Roman" panose="02020603050405020304" pitchFamily="18" charset="0"/>
                <a:ea typeface="Times New Roman"/>
                <a:cs typeface="Times New Roman" panose="02020603050405020304" pitchFamily="18" charset="0"/>
                <a:sym typeface="Times New Roman"/>
              </a:rPr>
              <a:t>To design and analyze a secure encryption system by comparing AES encryption with a hybrid cryptographic approach in order to improve </a:t>
            </a:r>
            <a:r>
              <a:rPr lang="en-US" sz="2400"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data security </a:t>
            </a:r>
            <a:r>
              <a:rPr lang="en-US" sz="2400" dirty="0">
                <a:solidFill>
                  <a:srgbClr val="00002E"/>
                </a:solidFill>
                <a:latin typeface="Times New Roman" panose="02020603050405020304" pitchFamily="18" charset="0"/>
                <a:ea typeface="Times New Roman"/>
                <a:cs typeface="Times New Roman" panose="02020603050405020304" pitchFamily="18" charset="0"/>
                <a:sym typeface="Times New Roman"/>
              </a:rPr>
              <a:t>while maintaining </a:t>
            </a:r>
            <a:r>
              <a:rPr lang="en-US" sz="2400"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good performance.</a:t>
            </a:r>
          </a:p>
        </p:txBody>
      </p:sp>
      <p:grpSp>
        <p:nvGrpSpPr>
          <p:cNvPr id="7" name="Group 7"/>
          <p:cNvGrpSpPr/>
          <p:nvPr/>
        </p:nvGrpSpPr>
        <p:grpSpPr>
          <a:xfrm>
            <a:off x="1255395" y="3408769"/>
            <a:ext cx="6907406" cy="1638281"/>
            <a:chOff x="0" y="0"/>
            <a:chExt cx="9209875" cy="2184375"/>
          </a:xfrm>
        </p:grpSpPr>
        <p:sp>
          <p:nvSpPr>
            <p:cNvPr id="8" name="Freeform 8"/>
            <p:cNvSpPr/>
            <p:nvPr/>
          </p:nvSpPr>
          <p:spPr>
            <a:xfrm>
              <a:off x="7874" y="7874"/>
              <a:ext cx="9194038" cy="2168525"/>
            </a:xfrm>
            <a:custGeom>
              <a:avLst/>
              <a:gdLst/>
              <a:ahLst/>
              <a:cxnLst/>
              <a:rect l="l" t="t" r="r" b="b"/>
              <a:pathLst>
                <a:path w="9194038" h="2168525">
                  <a:moveTo>
                    <a:pt x="0" y="0"/>
                  </a:moveTo>
                  <a:lnTo>
                    <a:pt x="9194038" y="0"/>
                  </a:lnTo>
                  <a:lnTo>
                    <a:pt x="9194038" y="2168525"/>
                  </a:lnTo>
                  <a:lnTo>
                    <a:pt x="0" y="2168525"/>
                  </a:lnTo>
                  <a:close/>
                </a:path>
              </a:pathLst>
            </a:custGeom>
            <a:solidFill>
              <a:srgbClr val="F3F3FF">
                <a:alpha val="56078"/>
              </a:srgbClr>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9" name="Freeform 9"/>
            <p:cNvSpPr/>
            <p:nvPr/>
          </p:nvSpPr>
          <p:spPr>
            <a:xfrm>
              <a:off x="0" y="0"/>
              <a:ext cx="9209786" cy="2184273"/>
            </a:xfrm>
            <a:custGeom>
              <a:avLst/>
              <a:gdLst/>
              <a:ahLst/>
              <a:cxnLst/>
              <a:rect l="l" t="t" r="r" b="b"/>
              <a:pathLst>
                <a:path w="9209786" h="2184273">
                  <a:moveTo>
                    <a:pt x="7874" y="0"/>
                  </a:moveTo>
                  <a:lnTo>
                    <a:pt x="9201912" y="0"/>
                  </a:lnTo>
                  <a:cubicBezTo>
                    <a:pt x="9206357" y="0"/>
                    <a:pt x="9209786" y="3556"/>
                    <a:pt x="9209786" y="7874"/>
                  </a:cubicBezTo>
                  <a:lnTo>
                    <a:pt x="9209786" y="2176399"/>
                  </a:lnTo>
                  <a:cubicBezTo>
                    <a:pt x="9209786" y="2180844"/>
                    <a:pt x="9206230" y="2184273"/>
                    <a:pt x="9201912" y="2184273"/>
                  </a:cubicBezTo>
                  <a:lnTo>
                    <a:pt x="7874" y="2184273"/>
                  </a:lnTo>
                  <a:cubicBezTo>
                    <a:pt x="3429" y="2184273"/>
                    <a:pt x="0" y="2180717"/>
                    <a:pt x="0" y="2176399"/>
                  </a:cubicBezTo>
                  <a:lnTo>
                    <a:pt x="0" y="7874"/>
                  </a:lnTo>
                  <a:cubicBezTo>
                    <a:pt x="0" y="3556"/>
                    <a:pt x="3556" y="0"/>
                    <a:pt x="7874" y="0"/>
                  </a:cubicBezTo>
                  <a:moveTo>
                    <a:pt x="7874" y="15875"/>
                  </a:moveTo>
                  <a:lnTo>
                    <a:pt x="7874" y="7874"/>
                  </a:lnTo>
                  <a:lnTo>
                    <a:pt x="15748" y="7874"/>
                  </a:lnTo>
                  <a:lnTo>
                    <a:pt x="15748" y="2176399"/>
                  </a:lnTo>
                  <a:lnTo>
                    <a:pt x="7874" y="2176399"/>
                  </a:lnTo>
                  <a:lnTo>
                    <a:pt x="7874" y="2168525"/>
                  </a:lnTo>
                  <a:lnTo>
                    <a:pt x="9201912" y="2168525"/>
                  </a:lnTo>
                  <a:lnTo>
                    <a:pt x="9201912" y="2176399"/>
                  </a:lnTo>
                  <a:lnTo>
                    <a:pt x="9194038" y="2176399"/>
                  </a:lnTo>
                  <a:lnTo>
                    <a:pt x="9194038" y="7874"/>
                  </a:lnTo>
                  <a:lnTo>
                    <a:pt x="9201912" y="7874"/>
                  </a:lnTo>
                  <a:lnTo>
                    <a:pt x="9201912" y="15748"/>
                  </a:lnTo>
                  <a:lnTo>
                    <a:pt x="7874" y="15748"/>
                  </a:ln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10" name="Group 10"/>
          <p:cNvGrpSpPr/>
          <p:nvPr/>
        </p:nvGrpSpPr>
        <p:grpSpPr>
          <a:xfrm>
            <a:off x="1219305" y="3342713"/>
            <a:ext cx="6979501" cy="114376"/>
            <a:chOff x="0" y="0"/>
            <a:chExt cx="9306001" cy="152502"/>
          </a:xfrm>
        </p:grpSpPr>
        <p:sp>
          <p:nvSpPr>
            <p:cNvPr id="11" name="Freeform 11"/>
            <p:cNvSpPr/>
            <p:nvPr/>
          </p:nvSpPr>
          <p:spPr>
            <a:xfrm>
              <a:off x="0" y="0"/>
              <a:ext cx="9305925" cy="152400"/>
            </a:xfrm>
            <a:custGeom>
              <a:avLst/>
              <a:gdLst/>
              <a:ahLst/>
              <a:cxnLst/>
              <a:rect l="l" t="t" r="r" b="b"/>
              <a:pathLst>
                <a:path w="9305925" h="152400">
                  <a:moveTo>
                    <a:pt x="0" y="76200"/>
                  </a:moveTo>
                  <a:cubicBezTo>
                    <a:pt x="0" y="34163"/>
                    <a:pt x="34163" y="0"/>
                    <a:pt x="76200" y="0"/>
                  </a:cubicBezTo>
                  <a:lnTo>
                    <a:pt x="9229725" y="0"/>
                  </a:lnTo>
                  <a:cubicBezTo>
                    <a:pt x="9271889" y="0"/>
                    <a:pt x="9305925" y="34163"/>
                    <a:pt x="9305925" y="76200"/>
                  </a:cubicBezTo>
                  <a:cubicBezTo>
                    <a:pt x="9305925" y="118237"/>
                    <a:pt x="9271762" y="152400"/>
                    <a:pt x="9229725" y="152400"/>
                  </a:cubicBezTo>
                  <a:lnTo>
                    <a:pt x="76200" y="152400"/>
                  </a:lnTo>
                  <a:cubicBezTo>
                    <a:pt x="34036" y="152400"/>
                    <a:pt x="0" y="118237"/>
                    <a:pt x="0" y="76200"/>
                  </a:cubicBez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3934216" y="3042152"/>
            <a:ext cx="777373" cy="715499"/>
            <a:chOff x="0" y="0"/>
            <a:chExt cx="1036498" cy="953999"/>
          </a:xfrm>
        </p:grpSpPr>
        <p:sp>
          <p:nvSpPr>
            <p:cNvPr id="13" name="Freeform 13"/>
            <p:cNvSpPr/>
            <p:nvPr/>
          </p:nvSpPr>
          <p:spPr>
            <a:xfrm>
              <a:off x="0" y="0"/>
              <a:ext cx="1036447" cy="954024"/>
            </a:xfrm>
            <a:custGeom>
              <a:avLst/>
              <a:gdLst/>
              <a:ahLst/>
              <a:cxnLst/>
              <a:rect l="l" t="t" r="r" b="b"/>
              <a:pathLst>
                <a:path w="1036447" h="954024">
                  <a:moveTo>
                    <a:pt x="0" y="477012"/>
                  </a:moveTo>
                  <a:cubicBezTo>
                    <a:pt x="0" y="213614"/>
                    <a:pt x="213614" y="0"/>
                    <a:pt x="477012" y="0"/>
                  </a:cubicBezTo>
                  <a:lnTo>
                    <a:pt x="559562" y="0"/>
                  </a:lnTo>
                  <a:cubicBezTo>
                    <a:pt x="822960" y="0"/>
                    <a:pt x="1036447" y="213614"/>
                    <a:pt x="1036447" y="477012"/>
                  </a:cubicBezTo>
                  <a:cubicBezTo>
                    <a:pt x="1036447" y="740410"/>
                    <a:pt x="822960" y="954024"/>
                    <a:pt x="559562" y="954024"/>
                  </a:cubicBezTo>
                  <a:lnTo>
                    <a:pt x="477012" y="954024"/>
                  </a:lnTo>
                  <a:cubicBezTo>
                    <a:pt x="213614" y="954024"/>
                    <a:pt x="0" y="740410"/>
                    <a:pt x="0" y="477012"/>
                  </a:cubicBez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sp>
        <p:nvSpPr>
          <p:cNvPr id="14" name="TextBox 14"/>
          <p:cNvSpPr txBox="1"/>
          <p:nvPr/>
        </p:nvSpPr>
        <p:spPr>
          <a:xfrm>
            <a:off x="4232529" y="3083566"/>
            <a:ext cx="420748" cy="481157"/>
          </a:xfrm>
          <a:prstGeom prst="rect">
            <a:avLst/>
          </a:prstGeom>
        </p:spPr>
        <p:txBody>
          <a:bodyPr lIns="0" tIns="0" rIns="0" bIns="0" rtlCol="0" anchor="t">
            <a:spAutoFit/>
          </a:bodyPr>
          <a:lstStyle/>
          <a:p>
            <a:pPr algn="l">
              <a:lnSpc>
                <a:spcPts val="4274"/>
              </a:lnSpc>
            </a:pPr>
            <a:r>
              <a:rPr lang="en-US" sz="2249" dirty="0">
                <a:solidFill>
                  <a:srgbClr val="FFFFFF"/>
                </a:solidFill>
                <a:latin typeface="Times New Roman" panose="02020603050405020304" pitchFamily="18" charset="0"/>
                <a:ea typeface="Nunito"/>
                <a:cs typeface="Times New Roman" panose="02020603050405020304" pitchFamily="18" charset="0"/>
                <a:sym typeface="Nunito"/>
              </a:rPr>
              <a:t>1</a:t>
            </a:r>
          </a:p>
        </p:txBody>
      </p:sp>
      <p:sp>
        <p:nvSpPr>
          <p:cNvPr id="15" name="TextBox 15"/>
          <p:cNvSpPr txBox="1"/>
          <p:nvPr/>
        </p:nvSpPr>
        <p:spPr>
          <a:xfrm>
            <a:off x="1597714" y="3868036"/>
            <a:ext cx="7160247" cy="402611"/>
          </a:xfrm>
          <a:prstGeom prst="rect">
            <a:avLst/>
          </a:prstGeom>
        </p:spPr>
        <p:txBody>
          <a:bodyPr lIns="0" tIns="0" rIns="0" bIns="0" rtlCol="0" anchor="t">
            <a:spAutoFit/>
          </a:bodyPr>
          <a:lstStyle/>
          <a:p>
            <a:pPr algn="l">
              <a:lnSpc>
                <a:spcPts val="3599"/>
              </a:lnSpc>
            </a:pPr>
            <a:r>
              <a:rPr lang="en-US" sz="1874"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To study</a:t>
            </a:r>
            <a:r>
              <a:rPr lang="en-US" sz="1874" dirty="0">
                <a:solidFill>
                  <a:srgbClr val="00002E"/>
                </a:solidFill>
                <a:latin typeface="Times New Roman" panose="02020603050405020304" pitchFamily="18" charset="0"/>
                <a:ea typeface="Times New Roman"/>
                <a:cs typeface="Times New Roman" panose="02020603050405020304" pitchFamily="18" charset="0"/>
                <a:sym typeface="Times New Roman"/>
              </a:rPr>
              <a:t> basic cryptographic techniques used for data security </a:t>
            </a:r>
          </a:p>
        </p:txBody>
      </p:sp>
      <p:grpSp>
        <p:nvGrpSpPr>
          <p:cNvPr id="16" name="Group 16"/>
          <p:cNvGrpSpPr/>
          <p:nvPr/>
        </p:nvGrpSpPr>
        <p:grpSpPr>
          <a:xfrm>
            <a:off x="9257262" y="3408759"/>
            <a:ext cx="6991407" cy="1638281"/>
            <a:chOff x="0" y="0"/>
            <a:chExt cx="9321876" cy="2184375"/>
          </a:xfrm>
        </p:grpSpPr>
        <p:sp>
          <p:nvSpPr>
            <p:cNvPr id="17" name="Freeform 17"/>
            <p:cNvSpPr/>
            <p:nvPr/>
          </p:nvSpPr>
          <p:spPr>
            <a:xfrm>
              <a:off x="7874" y="7874"/>
              <a:ext cx="9306052" cy="2168525"/>
            </a:xfrm>
            <a:custGeom>
              <a:avLst/>
              <a:gdLst/>
              <a:ahLst/>
              <a:cxnLst/>
              <a:rect l="l" t="t" r="r" b="b"/>
              <a:pathLst>
                <a:path w="9306052" h="2168525">
                  <a:moveTo>
                    <a:pt x="0" y="182880"/>
                  </a:moveTo>
                  <a:cubicBezTo>
                    <a:pt x="0" y="81915"/>
                    <a:pt x="82423" y="0"/>
                    <a:pt x="183896" y="0"/>
                  </a:cubicBezTo>
                  <a:lnTo>
                    <a:pt x="9122156" y="0"/>
                  </a:lnTo>
                  <a:cubicBezTo>
                    <a:pt x="9223756" y="0"/>
                    <a:pt x="9306052" y="81915"/>
                    <a:pt x="9306052" y="182880"/>
                  </a:cubicBezTo>
                  <a:lnTo>
                    <a:pt x="9306052" y="1985645"/>
                  </a:lnTo>
                  <a:cubicBezTo>
                    <a:pt x="9306052" y="2086610"/>
                    <a:pt x="9223756" y="2168525"/>
                    <a:pt x="9122156" y="2168525"/>
                  </a:cubicBezTo>
                  <a:lnTo>
                    <a:pt x="183896" y="2168525"/>
                  </a:lnTo>
                  <a:cubicBezTo>
                    <a:pt x="82296" y="2168525"/>
                    <a:pt x="0" y="2086610"/>
                    <a:pt x="0" y="1985645"/>
                  </a:cubicBezTo>
                  <a:close/>
                </a:path>
              </a:pathLst>
            </a:custGeom>
            <a:solidFill>
              <a:srgbClr val="F3F3FF">
                <a:alpha val="56078"/>
              </a:srgbClr>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18" name="Freeform 18"/>
            <p:cNvSpPr/>
            <p:nvPr/>
          </p:nvSpPr>
          <p:spPr>
            <a:xfrm>
              <a:off x="0" y="0"/>
              <a:ext cx="9321800" cy="2184273"/>
            </a:xfrm>
            <a:custGeom>
              <a:avLst/>
              <a:gdLst/>
              <a:ahLst/>
              <a:cxnLst/>
              <a:rect l="l" t="t" r="r" b="b"/>
              <a:pathLst>
                <a:path w="9321800" h="2184273">
                  <a:moveTo>
                    <a:pt x="0" y="190754"/>
                  </a:moveTo>
                  <a:cubicBezTo>
                    <a:pt x="0" y="85344"/>
                    <a:pt x="85979" y="0"/>
                    <a:pt x="191770" y="0"/>
                  </a:cubicBezTo>
                  <a:lnTo>
                    <a:pt x="9130030" y="0"/>
                  </a:lnTo>
                  <a:lnTo>
                    <a:pt x="9130030" y="7874"/>
                  </a:lnTo>
                  <a:lnTo>
                    <a:pt x="9130030" y="0"/>
                  </a:lnTo>
                  <a:cubicBezTo>
                    <a:pt x="9235949" y="0"/>
                    <a:pt x="9321800" y="85344"/>
                    <a:pt x="9321800" y="190754"/>
                  </a:cubicBezTo>
                  <a:lnTo>
                    <a:pt x="9313926" y="190754"/>
                  </a:lnTo>
                  <a:lnTo>
                    <a:pt x="9321800" y="190754"/>
                  </a:lnTo>
                  <a:lnTo>
                    <a:pt x="9321800" y="1993519"/>
                  </a:lnTo>
                  <a:lnTo>
                    <a:pt x="9313926" y="1993519"/>
                  </a:lnTo>
                  <a:lnTo>
                    <a:pt x="9321800" y="1993519"/>
                  </a:lnTo>
                  <a:cubicBezTo>
                    <a:pt x="9321800" y="2098929"/>
                    <a:pt x="9235822" y="2184273"/>
                    <a:pt x="9130030" y="2184273"/>
                  </a:cubicBezTo>
                  <a:lnTo>
                    <a:pt x="9130030" y="2176399"/>
                  </a:lnTo>
                  <a:lnTo>
                    <a:pt x="9130030" y="2184273"/>
                  </a:lnTo>
                  <a:lnTo>
                    <a:pt x="191770" y="2184273"/>
                  </a:lnTo>
                  <a:lnTo>
                    <a:pt x="191770" y="2176399"/>
                  </a:lnTo>
                  <a:lnTo>
                    <a:pt x="191770" y="2184273"/>
                  </a:lnTo>
                  <a:cubicBezTo>
                    <a:pt x="85979" y="2184400"/>
                    <a:pt x="0" y="2098929"/>
                    <a:pt x="0" y="1993519"/>
                  </a:cubicBezTo>
                  <a:lnTo>
                    <a:pt x="0" y="190754"/>
                  </a:lnTo>
                  <a:lnTo>
                    <a:pt x="7874" y="190754"/>
                  </a:lnTo>
                  <a:lnTo>
                    <a:pt x="0" y="190754"/>
                  </a:lnTo>
                  <a:moveTo>
                    <a:pt x="15875" y="190754"/>
                  </a:moveTo>
                  <a:lnTo>
                    <a:pt x="15875" y="1993519"/>
                  </a:lnTo>
                  <a:lnTo>
                    <a:pt x="7874" y="1993519"/>
                  </a:lnTo>
                  <a:lnTo>
                    <a:pt x="15748" y="1993519"/>
                  </a:lnTo>
                  <a:cubicBezTo>
                    <a:pt x="15748" y="2090039"/>
                    <a:pt x="94488" y="2168398"/>
                    <a:pt x="191643" y="2168398"/>
                  </a:cubicBezTo>
                  <a:lnTo>
                    <a:pt x="9130030" y="2168398"/>
                  </a:lnTo>
                  <a:cubicBezTo>
                    <a:pt x="9227312" y="2168398"/>
                    <a:pt x="9305925" y="2090039"/>
                    <a:pt x="9305925" y="1993519"/>
                  </a:cubicBezTo>
                  <a:lnTo>
                    <a:pt x="9305925" y="190754"/>
                  </a:lnTo>
                  <a:cubicBezTo>
                    <a:pt x="9305925" y="94234"/>
                    <a:pt x="9227186" y="15875"/>
                    <a:pt x="9130030" y="15875"/>
                  </a:cubicBezTo>
                  <a:lnTo>
                    <a:pt x="191770" y="15875"/>
                  </a:lnTo>
                  <a:lnTo>
                    <a:pt x="191770" y="7874"/>
                  </a:lnTo>
                  <a:lnTo>
                    <a:pt x="191770" y="15748"/>
                  </a:lnTo>
                  <a:cubicBezTo>
                    <a:pt x="94615" y="15875"/>
                    <a:pt x="15875" y="94234"/>
                    <a:pt x="15875" y="190754"/>
                  </a:cubicBezTo>
                  <a:close/>
                </a:path>
              </a:pathLst>
            </a:custGeom>
            <a:solidFill>
              <a:srgbClr val="018CE1"/>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19" name="Group 19"/>
          <p:cNvGrpSpPr/>
          <p:nvPr/>
        </p:nvGrpSpPr>
        <p:grpSpPr>
          <a:xfrm>
            <a:off x="9263215" y="3386138"/>
            <a:ext cx="6979596" cy="114300"/>
            <a:chOff x="0" y="0"/>
            <a:chExt cx="9306128" cy="152400"/>
          </a:xfrm>
        </p:grpSpPr>
        <p:sp>
          <p:nvSpPr>
            <p:cNvPr id="20" name="Freeform 20"/>
            <p:cNvSpPr/>
            <p:nvPr/>
          </p:nvSpPr>
          <p:spPr>
            <a:xfrm>
              <a:off x="0" y="0"/>
              <a:ext cx="9306179" cy="152400"/>
            </a:xfrm>
            <a:custGeom>
              <a:avLst/>
              <a:gdLst/>
              <a:ahLst/>
              <a:cxnLst/>
              <a:rect l="l" t="t" r="r" b="b"/>
              <a:pathLst>
                <a:path w="9306179" h="152400">
                  <a:moveTo>
                    <a:pt x="0" y="76200"/>
                  </a:moveTo>
                  <a:cubicBezTo>
                    <a:pt x="0" y="34163"/>
                    <a:pt x="34163" y="0"/>
                    <a:pt x="76200" y="0"/>
                  </a:cubicBezTo>
                  <a:lnTo>
                    <a:pt x="9229979" y="0"/>
                  </a:lnTo>
                  <a:cubicBezTo>
                    <a:pt x="9272016" y="0"/>
                    <a:pt x="9306179" y="34163"/>
                    <a:pt x="9306179" y="76200"/>
                  </a:cubicBezTo>
                  <a:cubicBezTo>
                    <a:pt x="9306179" y="118237"/>
                    <a:pt x="9272016" y="152400"/>
                    <a:pt x="9229979" y="152400"/>
                  </a:cubicBezTo>
                  <a:lnTo>
                    <a:pt x="76200" y="152400"/>
                  </a:lnTo>
                  <a:cubicBezTo>
                    <a:pt x="34163" y="152400"/>
                    <a:pt x="0" y="118237"/>
                    <a:pt x="0" y="76200"/>
                  </a:cubicBezTo>
                  <a:close/>
                </a:path>
              </a:pathLst>
            </a:custGeom>
            <a:solidFill>
              <a:srgbClr val="018CE1"/>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21" name="Group 21"/>
          <p:cNvGrpSpPr/>
          <p:nvPr/>
        </p:nvGrpSpPr>
        <p:grpSpPr>
          <a:xfrm>
            <a:off x="12333189" y="3057096"/>
            <a:ext cx="777373" cy="715499"/>
            <a:chOff x="0" y="0"/>
            <a:chExt cx="1036498" cy="953999"/>
          </a:xfrm>
        </p:grpSpPr>
        <p:sp>
          <p:nvSpPr>
            <p:cNvPr id="22" name="Freeform 22"/>
            <p:cNvSpPr/>
            <p:nvPr/>
          </p:nvSpPr>
          <p:spPr>
            <a:xfrm>
              <a:off x="0" y="0"/>
              <a:ext cx="1036447" cy="954024"/>
            </a:xfrm>
            <a:custGeom>
              <a:avLst/>
              <a:gdLst/>
              <a:ahLst/>
              <a:cxnLst/>
              <a:rect l="l" t="t" r="r" b="b"/>
              <a:pathLst>
                <a:path w="1036447" h="954024">
                  <a:moveTo>
                    <a:pt x="0" y="477012"/>
                  </a:moveTo>
                  <a:cubicBezTo>
                    <a:pt x="0" y="213614"/>
                    <a:pt x="213614" y="0"/>
                    <a:pt x="477012" y="0"/>
                  </a:cubicBezTo>
                  <a:lnTo>
                    <a:pt x="559562" y="0"/>
                  </a:lnTo>
                  <a:cubicBezTo>
                    <a:pt x="822960" y="0"/>
                    <a:pt x="1036447" y="213614"/>
                    <a:pt x="1036447" y="477012"/>
                  </a:cubicBezTo>
                  <a:cubicBezTo>
                    <a:pt x="1036447" y="740410"/>
                    <a:pt x="822960" y="954024"/>
                    <a:pt x="559562" y="954024"/>
                  </a:cubicBezTo>
                  <a:lnTo>
                    <a:pt x="477012" y="954024"/>
                  </a:lnTo>
                  <a:cubicBezTo>
                    <a:pt x="213614" y="954024"/>
                    <a:pt x="0" y="740410"/>
                    <a:pt x="0" y="477012"/>
                  </a:cubicBez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sp>
        <p:nvSpPr>
          <p:cNvPr id="23" name="TextBox 23"/>
          <p:cNvSpPr txBox="1"/>
          <p:nvPr/>
        </p:nvSpPr>
        <p:spPr>
          <a:xfrm>
            <a:off x="12609833" y="3083566"/>
            <a:ext cx="286121" cy="481157"/>
          </a:xfrm>
          <a:prstGeom prst="rect">
            <a:avLst/>
          </a:prstGeom>
        </p:spPr>
        <p:txBody>
          <a:bodyPr lIns="0" tIns="0" rIns="0" bIns="0" rtlCol="0" anchor="t">
            <a:spAutoFit/>
          </a:bodyPr>
          <a:lstStyle/>
          <a:p>
            <a:pPr algn="l">
              <a:lnSpc>
                <a:spcPts val="4274"/>
              </a:lnSpc>
            </a:pPr>
            <a:r>
              <a:rPr lang="en-US" sz="2249" dirty="0">
                <a:solidFill>
                  <a:srgbClr val="FFFFFF"/>
                </a:solidFill>
                <a:latin typeface="Times New Roman" panose="02020603050405020304" pitchFamily="18" charset="0"/>
                <a:ea typeface="Nunito"/>
                <a:cs typeface="Times New Roman" panose="02020603050405020304" pitchFamily="18" charset="0"/>
                <a:sym typeface="Nunito"/>
              </a:rPr>
              <a:t>2</a:t>
            </a:r>
          </a:p>
        </p:txBody>
      </p:sp>
      <p:sp>
        <p:nvSpPr>
          <p:cNvPr id="24" name="TextBox 24"/>
          <p:cNvSpPr txBox="1"/>
          <p:nvPr/>
        </p:nvSpPr>
        <p:spPr>
          <a:xfrm>
            <a:off x="9530210" y="3868045"/>
            <a:ext cx="6445596" cy="864276"/>
          </a:xfrm>
          <a:prstGeom prst="rect">
            <a:avLst/>
          </a:prstGeom>
        </p:spPr>
        <p:txBody>
          <a:bodyPr lIns="0" tIns="0" rIns="0" bIns="0" rtlCol="0" anchor="t">
            <a:spAutoFit/>
          </a:bodyPr>
          <a:lstStyle/>
          <a:p>
            <a:pPr algn="l">
              <a:lnSpc>
                <a:spcPts val="3599"/>
              </a:lnSpc>
            </a:pPr>
            <a:r>
              <a:rPr lang="en-US" sz="1874"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To design</a:t>
            </a:r>
            <a:r>
              <a:rPr lang="en-US" sz="1874" dirty="0">
                <a:solidFill>
                  <a:srgbClr val="00002E"/>
                </a:solidFill>
                <a:latin typeface="Times New Roman" panose="02020603050405020304" pitchFamily="18" charset="0"/>
                <a:ea typeface="Times New Roman"/>
                <a:cs typeface="Times New Roman" panose="02020603050405020304" pitchFamily="18" charset="0"/>
                <a:sym typeface="Times New Roman"/>
              </a:rPr>
              <a:t> an encryption system using AES for performance and hybrid cryptography for security</a:t>
            </a:r>
          </a:p>
        </p:txBody>
      </p:sp>
      <p:grpSp>
        <p:nvGrpSpPr>
          <p:cNvPr id="25" name="Group 25"/>
          <p:cNvGrpSpPr/>
          <p:nvPr/>
        </p:nvGrpSpPr>
        <p:grpSpPr>
          <a:xfrm>
            <a:off x="1255395" y="5631199"/>
            <a:ext cx="6907406" cy="1638281"/>
            <a:chOff x="0" y="0"/>
            <a:chExt cx="9209875" cy="2184375"/>
          </a:xfrm>
        </p:grpSpPr>
        <p:sp>
          <p:nvSpPr>
            <p:cNvPr id="26" name="Freeform 26"/>
            <p:cNvSpPr/>
            <p:nvPr/>
          </p:nvSpPr>
          <p:spPr>
            <a:xfrm>
              <a:off x="7874" y="7874"/>
              <a:ext cx="9194038" cy="2168525"/>
            </a:xfrm>
            <a:custGeom>
              <a:avLst/>
              <a:gdLst/>
              <a:ahLst/>
              <a:cxnLst/>
              <a:rect l="l" t="t" r="r" b="b"/>
              <a:pathLst>
                <a:path w="9194038" h="2168525">
                  <a:moveTo>
                    <a:pt x="0" y="182880"/>
                  </a:moveTo>
                  <a:cubicBezTo>
                    <a:pt x="0" y="81915"/>
                    <a:pt x="82423" y="0"/>
                    <a:pt x="183896" y="0"/>
                  </a:cubicBezTo>
                  <a:lnTo>
                    <a:pt x="9010142" y="0"/>
                  </a:lnTo>
                  <a:cubicBezTo>
                    <a:pt x="9111742" y="0"/>
                    <a:pt x="9194038" y="81915"/>
                    <a:pt x="9194038" y="182880"/>
                  </a:cubicBezTo>
                  <a:lnTo>
                    <a:pt x="9194038" y="1985645"/>
                  </a:lnTo>
                  <a:cubicBezTo>
                    <a:pt x="9194038" y="2086610"/>
                    <a:pt x="9111742" y="2168525"/>
                    <a:pt x="9010142" y="2168525"/>
                  </a:cubicBezTo>
                  <a:lnTo>
                    <a:pt x="183896" y="2168525"/>
                  </a:lnTo>
                  <a:cubicBezTo>
                    <a:pt x="82296" y="2168525"/>
                    <a:pt x="0" y="2086610"/>
                    <a:pt x="0" y="1985645"/>
                  </a:cubicBezTo>
                  <a:close/>
                </a:path>
              </a:pathLst>
            </a:custGeom>
            <a:solidFill>
              <a:srgbClr val="F3F3FF">
                <a:alpha val="56078"/>
              </a:srgbClr>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27" name="Freeform 27"/>
            <p:cNvSpPr/>
            <p:nvPr/>
          </p:nvSpPr>
          <p:spPr>
            <a:xfrm>
              <a:off x="0" y="0"/>
              <a:ext cx="9209786" cy="2184273"/>
            </a:xfrm>
            <a:custGeom>
              <a:avLst/>
              <a:gdLst/>
              <a:ahLst/>
              <a:cxnLst/>
              <a:rect l="l" t="t" r="r" b="b"/>
              <a:pathLst>
                <a:path w="9209786" h="2184273">
                  <a:moveTo>
                    <a:pt x="0" y="190754"/>
                  </a:moveTo>
                  <a:cubicBezTo>
                    <a:pt x="0" y="85344"/>
                    <a:pt x="85979" y="0"/>
                    <a:pt x="191770" y="0"/>
                  </a:cubicBezTo>
                  <a:lnTo>
                    <a:pt x="9018016" y="0"/>
                  </a:lnTo>
                  <a:lnTo>
                    <a:pt x="9018016" y="7874"/>
                  </a:lnTo>
                  <a:lnTo>
                    <a:pt x="9018016" y="0"/>
                  </a:lnTo>
                  <a:cubicBezTo>
                    <a:pt x="9123935" y="0"/>
                    <a:pt x="9209786" y="85344"/>
                    <a:pt x="9209786" y="190754"/>
                  </a:cubicBezTo>
                  <a:lnTo>
                    <a:pt x="9201912" y="190754"/>
                  </a:lnTo>
                  <a:lnTo>
                    <a:pt x="9209786" y="190754"/>
                  </a:lnTo>
                  <a:lnTo>
                    <a:pt x="9209786" y="1993519"/>
                  </a:lnTo>
                  <a:lnTo>
                    <a:pt x="9201912" y="1993519"/>
                  </a:lnTo>
                  <a:lnTo>
                    <a:pt x="9209786" y="1993519"/>
                  </a:lnTo>
                  <a:cubicBezTo>
                    <a:pt x="9209786" y="2098929"/>
                    <a:pt x="9123807" y="2184273"/>
                    <a:pt x="9018016" y="2184273"/>
                  </a:cubicBezTo>
                  <a:lnTo>
                    <a:pt x="9018016" y="2176399"/>
                  </a:lnTo>
                  <a:lnTo>
                    <a:pt x="9018016" y="2184273"/>
                  </a:lnTo>
                  <a:lnTo>
                    <a:pt x="191770" y="2184273"/>
                  </a:lnTo>
                  <a:lnTo>
                    <a:pt x="191770" y="2176399"/>
                  </a:lnTo>
                  <a:lnTo>
                    <a:pt x="191770" y="2184273"/>
                  </a:lnTo>
                  <a:cubicBezTo>
                    <a:pt x="85979" y="2184400"/>
                    <a:pt x="0" y="2098929"/>
                    <a:pt x="0" y="1993519"/>
                  </a:cubicBezTo>
                  <a:lnTo>
                    <a:pt x="0" y="190754"/>
                  </a:lnTo>
                  <a:lnTo>
                    <a:pt x="7874" y="190754"/>
                  </a:lnTo>
                  <a:lnTo>
                    <a:pt x="0" y="190754"/>
                  </a:lnTo>
                  <a:moveTo>
                    <a:pt x="15875" y="190754"/>
                  </a:moveTo>
                  <a:lnTo>
                    <a:pt x="15875" y="1993519"/>
                  </a:lnTo>
                  <a:lnTo>
                    <a:pt x="7874" y="1993519"/>
                  </a:lnTo>
                  <a:lnTo>
                    <a:pt x="15748" y="1993519"/>
                  </a:lnTo>
                  <a:cubicBezTo>
                    <a:pt x="15748" y="2090039"/>
                    <a:pt x="94488" y="2168398"/>
                    <a:pt x="191643" y="2168398"/>
                  </a:cubicBezTo>
                  <a:lnTo>
                    <a:pt x="9018016" y="2168398"/>
                  </a:lnTo>
                  <a:cubicBezTo>
                    <a:pt x="9115172" y="2168398"/>
                    <a:pt x="9193911" y="2090039"/>
                    <a:pt x="9193911" y="1993519"/>
                  </a:cubicBezTo>
                  <a:lnTo>
                    <a:pt x="9193911" y="190754"/>
                  </a:lnTo>
                  <a:cubicBezTo>
                    <a:pt x="9193911" y="94234"/>
                    <a:pt x="9115172" y="15875"/>
                    <a:pt x="9018016" y="15875"/>
                  </a:cubicBezTo>
                  <a:lnTo>
                    <a:pt x="191770" y="15875"/>
                  </a:lnTo>
                  <a:lnTo>
                    <a:pt x="191770" y="7874"/>
                  </a:lnTo>
                  <a:lnTo>
                    <a:pt x="191770" y="15748"/>
                  </a:lnTo>
                  <a:cubicBezTo>
                    <a:pt x="94615" y="15875"/>
                    <a:pt x="15875" y="94234"/>
                    <a:pt x="15875" y="190754"/>
                  </a:cubicBezTo>
                  <a:close/>
                </a:path>
              </a:pathLst>
            </a:custGeom>
            <a:solidFill>
              <a:srgbClr val="DA33BF"/>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28" name="Group 28"/>
          <p:cNvGrpSpPr/>
          <p:nvPr/>
        </p:nvGrpSpPr>
        <p:grpSpPr>
          <a:xfrm>
            <a:off x="1261348" y="5608596"/>
            <a:ext cx="6895500" cy="114376"/>
            <a:chOff x="0" y="0"/>
            <a:chExt cx="9194000" cy="152502"/>
          </a:xfrm>
        </p:grpSpPr>
        <p:sp>
          <p:nvSpPr>
            <p:cNvPr id="29" name="Freeform 29"/>
            <p:cNvSpPr/>
            <p:nvPr/>
          </p:nvSpPr>
          <p:spPr>
            <a:xfrm>
              <a:off x="0" y="0"/>
              <a:ext cx="9193911" cy="152400"/>
            </a:xfrm>
            <a:custGeom>
              <a:avLst/>
              <a:gdLst/>
              <a:ahLst/>
              <a:cxnLst/>
              <a:rect l="l" t="t" r="r" b="b"/>
              <a:pathLst>
                <a:path w="9193911" h="152400">
                  <a:moveTo>
                    <a:pt x="0" y="76200"/>
                  </a:moveTo>
                  <a:cubicBezTo>
                    <a:pt x="0" y="34163"/>
                    <a:pt x="34163" y="0"/>
                    <a:pt x="76200" y="0"/>
                  </a:cubicBezTo>
                  <a:lnTo>
                    <a:pt x="9117711" y="0"/>
                  </a:lnTo>
                  <a:cubicBezTo>
                    <a:pt x="9159875" y="0"/>
                    <a:pt x="9193911" y="34163"/>
                    <a:pt x="9193911" y="76200"/>
                  </a:cubicBezTo>
                  <a:cubicBezTo>
                    <a:pt x="9193911" y="118237"/>
                    <a:pt x="9159748" y="152400"/>
                    <a:pt x="9117711" y="152400"/>
                  </a:cubicBezTo>
                  <a:lnTo>
                    <a:pt x="76200" y="152400"/>
                  </a:lnTo>
                  <a:cubicBezTo>
                    <a:pt x="34036" y="152400"/>
                    <a:pt x="0" y="118237"/>
                    <a:pt x="0" y="76200"/>
                  </a:cubicBezTo>
                  <a:close/>
                </a:path>
              </a:pathLst>
            </a:custGeom>
            <a:solidFill>
              <a:srgbClr val="DA33BF"/>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30" name="Group 30"/>
          <p:cNvGrpSpPr/>
          <p:nvPr/>
        </p:nvGrpSpPr>
        <p:grpSpPr>
          <a:xfrm>
            <a:off x="3996157" y="5279527"/>
            <a:ext cx="715499" cy="715499"/>
            <a:chOff x="0" y="0"/>
            <a:chExt cx="953999" cy="953999"/>
          </a:xfrm>
        </p:grpSpPr>
        <p:sp>
          <p:nvSpPr>
            <p:cNvPr id="31" name="Freeform 31"/>
            <p:cNvSpPr/>
            <p:nvPr/>
          </p:nvSpPr>
          <p:spPr>
            <a:xfrm>
              <a:off x="0" y="0"/>
              <a:ext cx="954024" cy="954024"/>
            </a:xfrm>
            <a:custGeom>
              <a:avLst/>
              <a:gdLst/>
              <a:ahLst/>
              <a:cxnLst/>
              <a:rect l="l" t="t" r="r" b="b"/>
              <a:pathLst>
                <a:path w="954024" h="954024">
                  <a:moveTo>
                    <a:pt x="0" y="477012"/>
                  </a:moveTo>
                  <a:cubicBezTo>
                    <a:pt x="0" y="213614"/>
                    <a:pt x="213614" y="0"/>
                    <a:pt x="477012" y="0"/>
                  </a:cubicBezTo>
                  <a:cubicBezTo>
                    <a:pt x="740410" y="0"/>
                    <a:pt x="954024" y="213614"/>
                    <a:pt x="954024" y="477012"/>
                  </a:cubicBezTo>
                  <a:cubicBezTo>
                    <a:pt x="954024" y="740410"/>
                    <a:pt x="740410" y="954024"/>
                    <a:pt x="477012" y="954024"/>
                  </a:cubicBezTo>
                  <a:cubicBezTo>
                    <a:pt x="213614" y="954024"/>
                    <a:pt x="0" y="740410"/>
                    <a:pt x="0" y="477012"/>
                  </a:cubicBez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sp>
        <p:nvSpPr>
          <p:cNvPr id="32" name="TextBox 32"/>
          <p:cNvSpPr txBox="1"/>
          <p:nvPr/>
        </p:nvSpPr>
        <p:spPr>
          <a:xfrm>
            <a:off x="4232539" y="5306006"/>
            <a:ext cx="286121" cy="481157"/>
          </a:xfrm>
          <a:prstGeom prst="rect">
            <a:avLst/>
          </a:prstGeom>
        </p:spPr>
        <p:txBody>
          <a:bodyPr lIns="0" tIns="0" rIns="0" bIns="0" rtlCol="0" anchor="t">
            <a:spAutoFit/>
          </a:bodyPr>
          <a:lstStyle/>
          <a:p>
            <a:pPr algn="l">
              <a:lnSpc>
                <a:spcPts val="4274"/>
              </a:lnSpc>
            </a:pPr>
            <a:r>
              <a:rPr lang="en-US" sz="2249" dirty="0">
                <a:solidFill>
                  <a:srgbClr val="FFFFFF"/>
                </a:solidFill>
                <a:latin typeface="Times New Roman" panose="02020603050405020304" pitchFamily="18" charset="0"/>
                <a:ea typeface="Nunito"/>
                <a:cs typeface="Times New Roman" panose="02020603050405020304" pitchFamily="18" charset="0"/>
                <a:sym typeface="Nunito"/>
              </a:rPr>
              <a:t>3</a:t>
            </a:r>
          </a:p>
        </p:txBody>
      </p:sp>
      <p:sp>
        <p:nvSpPr>
          <p:cNvPr id="33" name="TextBox 33"/>
          <p:cNvSpPr txBox="1"/>
          <p:nvPr/>
        </p:nvSpPr>
        <p:spPr>
          <a:xfrm>
            <a:off x="1558328" y="6090495"/>
            <a:ext cx="7169629" cy="402611"/>
          </a:xfrm>
          <a:prstGeom prst="rect">
            <a:avLst/>
          </a:prstGeom>
        </p:spPr>
        <p:txBody>
          <a:bodyPr lIns="0" tIns="0" rIns="0" bIns="0" rtlCol="0" anchor="t">
            <a:spAutoFit/>
          </a:bodyPr>
          <a:lstStyle/>
          <a:p>
            <a:pPr algn="l">
              <a:lnSpc>
                <a:spcPts val="3599"/>
              </a:lnSpc>
            </a:pPr>
            <a:r>
              <a:rPr lang="en-US" sz="1874"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To implement</a:t>
            </a:r>
            <a:r>
              <a:rPr lang="en-US" sz="1874" dirty="0">
                <a:solidFill>
                  <a:srgbClr val="00002E"/>
                </a:solidFill>
                <a:latin typeface="Times New Roman" panose="02020603050405020304" pitchFamily="18" charset="0"/>
                <a:ea typeface="Times New Roman"/>
                <a:cs typeface="Times New Roman" panose="02020603050405020304" pitchFamily="18" charset="0"/>
                <a:sym typeface="Times New Roman"/>
              </a:rPr>
              <a:t> AES and hybrid encryption models using Python</a:t>
            </a:r>
          </a:p>
        </p:txBody>
      </p:sp>
      <p:grpSp>
        <p:nvGrpSpPr>
          <p:cNvPr id="34" name="Group 34"/>
          <p:cNvGrpSpPr/>
          <p:nvPr/>
        </p:nvGrpSpPr>
        <p:grpSpPr>
          <a:xfrm>
            <a:off x="9257262" y="5631209"/>
            <a:ext cx="6991502" cy="1638300"/>
            <a:chOff x="0" y="0"/>
            <a:chExt cx="9322003" cy="2184400"/>
          </a:xfrm>
        </p:grpSpPr>
        <p:sp>
          <p:nvSpPr>
            <p:cNvPr id="35" name="Freeform 35"/>
            <p:cNvSpPr/>
            <p:nvPr/>
          </p:nvSpPr>
          <p:spPr>
            <a:xfrm>
              <a:off x="7874" y="7874"/>
              <a:ext cx="9306178" cy="2168652"/>
            </a:xfrm>
            <a:custGeom>
              <a:avLst/>
              <a:gdLst/>
              <a:ahLst/>
              <a:cxnLst/>
              <a:rect l="l" t="t" r="r" b="b"/>
              <a:pathLst>
                <a:path w="9306178" h="2168652">
                  <a:moveTo>
                    <a:pt x="0" y="182880"/>
                  </a:moveTo>
                  <a:cubicBezTo>
                    <a:pt x="0" y="81915"/>
                    <a:pt x="82423" y="0"/>
                    <a:pt x="184023" y="0"/>
                  </a:cubicBezTo>
                  <a:lnTo>
                    <a:pt x="9122283" y="0"/>
                  </a:lnTo>
                  <a:cubicBezTo>
                    <a:pt x="9223883" y="0"/>
                    <a:pt x="9306178" y="81915"/>
                    <a:pt x="9306178" y="182880"/>
                  </a:cubicBezTo>
                  <a:lnTo>
                    <a:pt x="9306178" y="1985772"/>
                  </a:lnTo>
                  <a:cubicBezTo>
                    <a:pt x="9306178" y="2086737"/>
                    <a:pt x="9223883" y="2168652"/>
                    <a:pt x="9122283" y="2168652"/>
                  </a:cubicBezTo>
                  <a:lnTo>
                    <a:pt x="184023" y="2168652"/>
                  </a:lnTo>
                  <a:cubicBezTo>
                    <a:pt x="82423" y="2168652"/>
                    <a:pt x="127" y="2086737"/>
                    <a:pt x="127" y="1985772"/>
                  </a:cubicBezTo>
                  <a:close/>
                </a:path>
              </a:pathLst>
            </a:custGeom>
            <a:solidFill>
              <a:srgbClr val="F3F3FF">
                <a:alpha val="56078"/>
              </a:srgbClr>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36" name="Freeform 36"/>
            <p:cNvSpPr/>
            <p:nvPr/>
          </p:nvSpPr>
          <p:spPr>
            <a:xfrm>
              <a:off x="0" y="0"/>
              <a:ext cx="9322053" cy="2184400"/>
            </a:xfrm>
            <a:custGeom>
              <a:avLst/>
              <a:gdLst/>
              <a:ahLst/>
              <a:cxnLst/>
              <a:rect l="l" t="t" r="r" b="b"/>
              <a:pathLst>
                <a:path w="9322053" h="2184400">
                  <a:moveTo>
                    <a:pt x="0" y="190754"/>
                  </a:moveTo>
                  <a:cubicBezTo>
                    <a:pt x="0" y="85344"/>
                    <a:pt x="85979" y="0"/>
                    <a:pt x="191897" y="0"/>
                  </a:cubicBezTo>
                  <a:lnTo>
                    <a:pt x="9130157" y="0"/>
                  </a:lnTo>
                  <a:lnTo>
                    <a:pt x="9130157" y="7874"/>
                  </a:lnTo>
                  <a:lnTo>
                    <a:pt x="9130157" y="0"/>
                  </a:lnTo>
                  <a:cubicBezTo>
                    <a:pt x="9236075" y="0"/>
                    <a:pt x="9322053" y="85344"/>
                    <a:pt x="9322053" y="190754"/>
                  </a:cubicBezTo>
                  <a:lnTo>
                    <a:pt x="9314180" y="190754"/>
                  </a:lnTo>
                  <a:lnTo>
                    <a:pt x="9322053" y="190754"/>
                  </a:lnTo>
                  <a:lnTo>
                    <a:pt x="9322053" y="1993646"/>
                  </a:lnTo>
                  <a:lnTo>
                    <a:pt x="9314180" y="1993646"/>
                  </a:lnTo>
                  <a:lnTo>
                    <a:pt x="9322053" y="1993646"/>
                  </a:lnTo>
                  <a:cubicBezTo>
                    <a:pt x="9322053" y="2099056"/>
                    <a:pt x="9236075" y="2184400"/>
                    <a:pt x="9130157" y="2184400"/>
                  </a:cubicBezTo>
                  <a:lnTo>
                    <a:pt x="9130157" y="2176526"/>
                  </a:lnTo>
                  <a:lnTo>
                    <a:pt x="9130157" y="2184400"/>
                  </a:lnTo>
                  <a:lnTo>
                    <a:pt x="191897" y="2184400"/>
                  </a:lnTo>
                  <a:lnTo>
                    <a:pt x="191897" y="2176526"/>
                  </a:lnTo>
                  <a:lnTo>
                    <a:pt x="191897" y="2184400"/>
                  </a:lnTo>
                  <a:cubicBezTo>
                    <a:pt x="85979" y="2184400"/>
                    <a:pt x="0" y="2099056"/>
                    <a:pt x="0" y="1993646"/>
                  </a:cubicBezTo>
                  <a:lnTo>
                    <a:pt x="0" y="190754"/>
                  </a:lnTo>
                  <a:lnTo>
                    <a:pt x="7874" y="190754"/>
                  </a:lnTo>
                  <a:lnTo>
                    <a:pt x="0" y="190754"/>
                  </a:lnTo>
                  <a:moveTo>
                    <a:pt x="15875" y="190754"/>
                  </a:moveTo>
                  <a:lnTo>
                    <a:pt x="15875" y="1993646"/>
                  </a:lnTo>
                  <a:lnTo>
                    <a:pt x="7874" y="1993646"/>
                  </a:lnTo>
                  <a:lnTo>
                    <a:pt x="15748" y="1993646"/>
                  </a:lnTo>
                  <a:cubicBezTo>
                    <a:pt x="15748" y="2090166"/>
                    <a:pt x="94488" y="2168525"/>
                    <a:pt x="191770" y="2168525"/>
                  </a:cubicBezTo>
                  <a:lnTo>
                    <a:pt x="9130157" y="2168525"/>
                  </a:lnTo>
                  <a:cubicBezTo>
                    <a:pt x="9227438" y="2168525"/>
                    <a:pt x="9306178" y="2090166"/>
                    <a:pt x="9306178" y="1993646"/>
                  </a:cubicBezTo>
                  <a:lnTo>
                    <a:pt x="9306178" y="190754"/>
                  </a:lnTo>
                  <a:cubicBezTo>
                    <a:pt x="9306178" y="94234"/>
                    <a:pt x="9227438" y="15875"/>
                    <a:pt x="9130157" y="15875"/>
                  </a:cubicBezTo>
                  <a:lnTo>
                    <a:pt x="191897" y="15875"/>
                  </a:lnTo>
                  <a:lnTo>
                    <a:pt x="191897" y="7874"/>
                  </a:lnTo>
                  <a:lnTo>
                    <a:pt x="191897" y="15748"/>
                  </a:lnTo>
                  <a:cubicBezTo>
                    <a:pt x="94615" y="15875"/>
                    <a:pt x="15875" y="94234"/>
                    <a:pt x="15875" y="190754"/>
                  </a:cubicBez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37" name="Group 37"/>
          <p:cNvGrpSpPr/>
          <p:nvPr/>
        </p:nvGrpSpPr>
        <p:grpSpPr>
          <a:xfrm>
            <a:off x="9263215" y="5608587"/>
            <a:ext cx="6979596" cy="114300"/>
            <a:chOff x="0" y="0"/>
            <a:chExt cx="9306128" cy="152400"/>
          </a:xfrm>
        </p:grpSpPr>
        <p:sp>
          <p:nvSpPr>
            <p:cNvPr id="38" name="Freeform 38"/>
            <p:cNvSpPr/>
            <p:nvPr/>
          </p:nvSpPr>
          <p:spPr>
            <a:xfrm>
              <a:off x="0" y="0"/>
              <a:ext cx="9306179" cy="152400"/>
            </a:xfrm>
            <a:custGeom>
              <a:avLst/>
              <a:gdLst/>
              <a:ahLst/>
              <a:cxnLst/>
              <a:rect l="l" t="t" r="r" b="b"/>
              <a:pathLst>
                <a:path w="9306179" h="152400">
                  <a:moveTo>
                    <a:pt x="0" y="76200"/>
                  </a:moveTo>
                  <a:cubicBezTo>
                    <a:pt x="0" y="34163"/>
                    <a:pt x="34163" y="0"/>
                    <a:pt x="76200" y="0"/>
                  </a:cubicBezTo>
                  <a:lnTo>
                    <a:pt x="9229979" y="0"/>
                  </a:lnTo>
                  <a:cubicBezTo>
                    <a:pt x="9272016" y="0"/>
                    <a:pt x="9306179" y="34163"/>
                    <a:pt x="9306179" y="76200"/>
                  </a:cubicBezTo>
                  <a:cubicBezTo>
                    <a:pt x="9306179" y="118237"/>
                    <a:pt x="9272016" y="152400"/>
                    <a:pt x="9229979" y="152400"/>
                  </a:cubicBezTo>
                  <a:lnTo>
                    <a:pt x="76200" y="152400"/>
                  </a:lnTo>
                  <a:cubicBezTo>
                    <a:pt x="34163" y="152400"/>
                    <a:pt x="0" y="118237"/>
                    <a:pt x="0" y="76200"/>
                  </a:cubicBez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39" name="Group 39"/>
          <p:cNvGrpSpPr/>
          <p:nvPr/>
        </p:nvGrpSpPr>
        <p:grpSpPr>
          <a:xfrm>
            <a:off x="12395225" y="5279527"/>
            <a:ext cx="715413" cy="715413"/>
            <a:chOff x="0" y="0"/>
            <a:chExt cx="953884" cy="953884"/>
          </a:xfrm>
        </p:grpSpPr>
        <p:sp>
          <p:nvSpPr>
            <p:cNvPr id="40" name="Freeform 40"/>
            <p:cNvSpPr/>
            <p:nvPr/>
          </p:nvSpPr>
          <p:spPr>
            <a:xfrm>
              <a:off x="0" y="0"/>
              <a:ext cx="953897" cy="953897"/>
            </a:xfrm>
            <a:custGeom>
              <a:avLst/>
              <a:gdLst/>
              <a:ahLst/>
              <a:cxnLst/>
              <a:rect l="l" t="t" r="r" b="b"/>
              <a:pathLst>
                <a:path w="953897" h="953897">
                  <a:moveTo>
                    <a:pt x="0" y="476885"/>
                  </a:moveTo>
                  <a:cubicBezTo>
                    <a:pt x="0" y="213487"/>
                    <a:pt x="213487" y="0"/>
                    <a:pt x="476885" y="0"/>
                  </a:cubicBezTo>
                  <a:cubicBezTo>
                    <a:pt x="740283" y="0"/>
                    <a:pt x="953897" y="213487"/>
                    <a:pt x="953897" y="476885"/>
                  </a:cubicBezTo>
                  <a:cubicBezTo>
                    <a:pt x="953897" y="740283"/>
                    <a:pt x="740410" y="953897"/>
                    <a:pt x="476885" y="953897"/>
                  </a:cubicBezTo>
                  <a:cubicBezTo>
                    <a:pt x="213360" y="953897"/>
                    <a:pt x="0" y="740410"/>
                    <a:pt x="0" y="476885"/>
                  </a:cubicBez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sp>
        <p:nvSpPr>
          <p:cNvPr id="41" name="TextBox 41"/>
          <p:cNvSpPr txBox="1"/>
          <p:nvPr/>
        </p:nvSpPr>
        <p:spPr>
          <a:xfrm>
            <a:off x="12609833" y="5306016"/>
            <a:ext cx="286198" cy="481157"/>
          </a:xfrm>
          <a:prstGeom prst="rect">
            <a:avLst/>
          </a:prstGeom>
        </p:spPr>
        <p:txBody>
          <a:bodyPr lIns="0" tIns="0" rIns="0" bIns="0" rtlCol="0" anchor="t">
            <a:spAutoFit/>
          </a:bodyPr>
          <a:lstStyle/>
          <a:p>
            <a:pPr algn="l">
              <a:lnSpc>
                <a:spcPts val="4274"/>
              </a:lnSpc>
            </a:pPr>
            <a:r>
              <a:rPr lang="en-US" sz="2249" dirty="0">
                <a:solidFill>
                  <a:srgbClr val="FFFFFF"/>
                </a:solidFill>
                <a:latin typeface="Times New Roman" panose="02020603050405020304" pitchFamily="18" charset="0"/>
                <a:ea typeface="Nunito"/>
                <a:cs typeface="Times New Roman" panose="02020603050405020304" pitchFamily="18" charset="0"/>
                <a:sym typeface="Nunito"/>
              </a:rPr>
              <a:t> 4</a:t>
            </a:r>
          </a:p>
        </p:txBody>
      </p:sp>
      <p:sp>
        <p:nvSpPr>
          <p:cNvPr id="42" name="TextBox 42"/>
          <p:cNvSpPr txBox="1"/>
          <p:nvPr/>
        </p:nvSpPr>
        <p:spPr>
          <a:xfrm>
            <a:off x="9530210" y="6090495"/>
            <a:ext cx="6445596" cy="866775"/>
          </a:xfrm>
          <a:prstGeom prst="rect">
            <a:avLst/>
          </a:prstGeom>
        </p:spPr>
        <p:txBody>
          <a:bodyPr lIns="0" tIns="0" rIns="0" bIns="0" rtlCol="0" anchor="t">
            <a:spAutoFit/>
          </a:bodyPr>
          <a:lstStyle/>
          <a:p>
            <a:pPr algn="l">
              <a:lnSpc>
                <a:spcPts val="3599"/>
              </a:lnSpc>
            </a:pPr>
            <a:r>
              <a:rPr lang="en-US" sz="1874"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To analyze</a:t>
            </a:r>
            <a:r>
              <a:rPr lang="en-US" sz="1874" dirty="0">
                <a:solidFill>
                  <a:srgbClr val="00002E"/>
                </a:solidFill>
                <a:latin typeface="Times New Roman" panose="02020603050405020304" pitchFamily="18" charset="0"/>
                <a:ea typeface="Times New Roman"/>
                <a:cs typeface="Times New Roman" panose="02020603050405020304" pitchFamily="18" charset="0"/>
                <a:sym typeface="Times New Roman"/>
              </a:rPr>
              <a:t> and compare the performance of AES and hybrid encryption using benchmarking results</a:t>
            </a:r>
          </a:p>
        </p:txBody>
      </p:sp>
      <p:sp>
        <p:nvSpPr>
          <p:cNvPr id="43" name="TextBox 43"/>
          <p:cNvSpPr txBox="1"/>
          <p:nvPr/>
        </p:nvSpPr>
        <p:spPr>
          <a:xfrm>
            <a:off x="1254433" y="7421509"/>
            <a:ext cx="14925380" cy="2374817"/>
          </a:xfrm>
          <a:prstGeom prst="rect">
            <a:avLst/>
          </a:prstGeom>
        </p:spPr>
        <p:txBody>
          <a:bodyPr lIns="0" tIns="0" rIns="0" bIns="0" rtlCol="0" anchor="t">
            <a:spAutoFit/>
          </a:bodyPr>
          <a:lstStyle/>
          <a:p>
            <a:pPr algn="l">
              <a:lnSpc>
                <a:spcPts val="3840"/>
              </a:lnSpc>
            </a:pPr>
            <a:r>
              <a:rPr lang="en-US" sz="2000" dirty="0">
                <a:solidFill>
                  <a:srgbClr val="00002E"/>
                </a:solidFill>
                <a:latin typeface="Times New Roman" panose="02020603050405020304" pitchFamily="18" charset="0"/>
                <a:ea typeface="Times New Roman"/>
                <a:cs typeface="Times New Roman" panose="02020603050405020304" pitchFamily="18" charset="0"/>
                <a:sym typeface="Times New Roman"/>
              </a:rPr>
              <a:t>So, the main aim of our project is to improve data security.</a:t>
            </a:r>
          </a:p>
          <a:p>
            <a:pPr marL="460375" lvl="1" indent="-230187" algn="l">
              <a:lnSpc>
                <a:spcPts val="3840"/>
              </a:lnSpc>
              <a:buAutoNum type="arabicPeriod"/>
            </a:pPr>
            <a:r>
              <a:rPr lang="en-US" sz="2000" dirty="0">
                <a:solidFill>
                  <a:srgbClr val="00002E"/>
                </a:solidFill>
                <a:latin typeface="Times New Roman" panose="02020603050405020304" pitchFamily="18" charset="0"/>
                <a:ea typeface="Times New Roman"/>
                <a:cs typeface="Times New Roman" panose="02020603050405020304" pitchFamily="18" charset="0"/>
                <a:sym typeface="Times New Roman"/>
              </a:rPr>
              <a:t>Firstly, we studied encryption techniques.</a:t>
            </a:r>
          </a:p>
          <a:p>
            <a:pPr marL="460375" lvl="1" indent="-230187" algn="l">
              <a:lnSpc>
                <a:spcPts val="3840"/>
              </a:lnSpc>
              <a:buAutoNum type="arabicPeriod"/>
            </a:pPr>
            <a:r>
              <a:rPr lang="en-US" sz="2000" dirty="0">
                <a:solidFill>
                  <a:srgbClr val="00002E"/>
                </a:solidFill>
                <a:latin typeface="Times New Roman" panose="02020603050405020304" pitchFamily="18" charset="0"/>
                <a:ea typeface="Times New Roman"/>
                <a:cs typeface="Times New Roman" panose="02020603050405020304" pitchFamily="18" charset="0"/>
                <a:sym typeface="Times New Roman"/>
              </a:rPr>
              <a:t>Then we designed and implemented AES and hybrid encryption models</a:t>
            </a:r>
            <a:r>
              <a:rPr lang="en-US" sz="2000"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(combine the speed of </a:t>
            </a:r>
            <a:r>
              <a:rPr lang="en-US" sz="2000" b="1" dirty="0">
                <a:latin typeface="Times New Roman" panose="02020603050405020304" pitchFamily="18" charset="0"/>
                <a:ea typeface="Times New Roman Bold"/>
                <a:cs typeface="Times New Roman" panose="02020603050405020304" pitchFamily="18" charset="0"/>
                <a:sym typeface="Times New Roman Bold"/>
                <a:hlinkClick r:id="rId3" tooltip="https://www.google.com/search?q=symmetric+encryption&amp;rlz=1C1ONGR_enIN1176IN1176&amp;oq=hybrid+encryption+moels&amp;gs_lcrp=EgZjaHJvbWUyBggAEEUYOTIICAEQABgWGB4yDQgCEAAYhgMYgAQYigUyCggDEAAYgAQYogQyCggEEAAYgAQYogQyBwgFEAAY7wUyBwgGEAAY7wUyCggHEAAYogQYiQXSAQg2NTY1ajBqN6gCALACAA&amp;sourceid=chrome&amp;ie=UTF-8&amp;ved=2ahUKEwi24oft5ZKSAxXrUGcHHdv4LE4QgK4QegQIARAE">
                  <a:extLst>
                    <a:ext uri="{A12FA001-AC4F-418D-AE19-62706E023703}">
                      <ahyp:hlinkClr xmlns:ahyp="http://schemas.microsoft.com/office/drawing/2018/hyperlinkcolor" val="tx"/>
                    </a:ext>
                  </a:extLst>
                </a:hlinkClick>
              </a:rPr>
              <a:t>symmetric encryption</a:t>
            </a:r>
            <a:r>
              <a:rPr lang="en-US" sz="2000" b="1" dirty="0">
                <a:latin typeface="Times New Roman" panose="02020603050405020304" pitchFamily="18" charset="0"/>
                <a:ea typeface="Times New Roman Bold"/>
                <a:cs typeface="Times New Roman" panose="02020603050405020304" pitchFamily="18" charset="0"/>
                <a:sym typeface="Times New Roman Bold"/>
              </a:rPr>
              <a:t> </a:t>
            </a:r>
            <a:r>
              <a:rPr lang="en-US" sz="2000"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and the security of </a:t>
            </a:r>
            <a:r>
              <a:rPr lang="en-US" sz="2000" b="1" u="sng" dirty="0">
                <a:solidFill>
                  <a:srgbClr val="0097A7"/>
                </a:solidFill>
                <a:latin typeface="Times New Roman" panose="02020603050405020304" pitchFamily="18" charset="0"/>
                <a:ea typeface="Times New Roman Bold"/>
                <a:cs typeface="Times New Roman" panose="02020603050405020304" pitchFamily="18" charset="0"/>
                <a:sym typeface="Times New Roman Bold"/>
                <a:hlinkClick r:id="rId4" tooltip="https://www.google.com/search?q=asymmetric+encryption&amp;rlz=1C1ONGR_enIN1176IN1176&amp;oq=hybrid+encryption+moels&amp;gs_lcrp=EgZjaHJvbWUyBggAEEUYOTIICAEQABgWGB4yDQgCEAAYhgMYgAQYigUyCggDEAAYgAQYogQyCggEEAAYgAQYogQyBwgFEAAY7wUyBwgGEAAY7wUyCggHEAAYogQYiQXSAQg2NTY1ajBqN6gCALACAA&amp;sourceid=chrome&amp;ie=UTF-8&amp;ved=2ahUKEwi24oft5ZKSAxXrUGcHHdv4LE4QgK4QegQIARAF"/>
              </a:rPr>
              <a:t>asymmetric encryption</a:t>
            </a:r>
            <a:r>
              <a:rPr lang="en-US" sz="2000"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 ).</a:t>
            </a:r>
          </a:p>
          <a:p>
            <a:pPr marL="460375" lvl="1" indent="-230187" algn="l">
              <a:lnSpc>
                <a:spcPts val="3840"/>
              </a:lnSpc>
              <a:buAutoNum type="arabicPeriod"/>
            </a:pPr>
            <a:r>
              <a:rPr lang="en-US" sz="2000" dirty="0">
                <a:solidFill>
                  <a:srgbClr val="00002E"/>
                </a:solidFill>
                <a:latin typeface="Times New Roman" panose="02020603050405020304" pitchFamily="18" charset="0"/>
                <a:ea typeface="Times New Roman"/>
                <a:cs typeface="Times New Roman" panose="02020603050405020304" pitchFamily="18" charset="0"/>
                <a:sym typeface="Times New Roman"/>
              </a:rPr>
              <a:t>Finally, we analyzed and compared their performance to understand which approach gives better security with acceptable speed.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56C0D47-8AC3-F43C-D41B-7AC1EF7FE3DC}"/>
              </a:ext>
            </a:extLst>
          </p:cNvPr>
          <p:cNvGraphicFramePr>
            <a:graphicFrameLocks noGrp="1"/>
          </p:cNvGraphicFramePr>
          <p:nvPr>
            <p:extLst>
              <p:ext uri="{D42A27DB-BD31-4B8C-83A1-F6EECF244321}">
                <p14:modId xmlns:p14="http://schemas.microsoft.com/office/powerpoint/2010/main" val="1361132532"/>
              </p:ext>
            </p:extLst>
          </p:nvPr>
        </p:nvGraphicFramePr>
        <p:xfrm>
          <a:off x="2286000" y="1203186"/>
          <a:ext cx="13792200" cy="7021915"/>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510465149"/>
                    </a:ext>
                  </a:extLst>
                </a:gridCol>
                <a:gridCol w="2514600">
                  <a:extLst>
                    <a:ext uri="{9D8B030D-6E8A-4147-A177-3AD203B41FA5}">
                      <a16:colId xmlns:a16="http://schemas.microsoft.com/office/drawing/2014/main" val="1138837944"/>
                    </a:ext>
                  </a:extLst>
                </a:gridCol>
                <a:gridCol w="2476500">
                  <a:extLst>
                    <a:ext uri="{9D8B030D-6E8A-4147-A177-3AD203B41FA5}">
                      <a16:colId xmlns:a16="http://schemas.microsoft.com/office/drawing/2014/main" val="4268742758"/>
                    </a:ext>
                  </a:extLst>
                </a:gridCol>
                <a:gridCol w="2298700">
                  <a:extLst>
                    <a:ext uri="{9D8B030D-6E8A-4147-A177-3AD203B41FA5}">
                      <a16:colId xmlns:a16="http://schemas.microsoft.com/office/drawing/2014/main" val="3868545609"/>
                    </a:ext>
                  </a:extLst>
                </a:gridCol>
                <a:gridCol w="2298700">
                  <a:extLst>
                    <a:ext uri="{9D8B030D-6E8A-4147-A177-3AD203B41FA5}">
                      <a16:colId xmlns:a16="http://schemas.microsoft.com/office/drawing/2014/main" val="4291144434"/>
                    </a:ext>
                  </a:extLst>
                </a:gridCol>
                <a:gridCol w="2298700">
                  <a:extLst>
                    <a:ext uri="{9D8B030D-6E8A-4147-A177-3AD203B41FA5}">
                      <a16:colId xmlns:a16="http://schemas.microsoft.com/office/drawing/2014/main" val="1995930367"/>
                    </a:ext>
                  </a:extLst>
                </a:gridCol>
              </a:tblGrid>
              <a:tr h="917350">
                <a:tc>
                  <a:txBody>
                    <a:bodyPr/>
                    <a:lstStyle/>
                    <a:p>
                      <a:pPr algn="ctr"/>
                      <a:endParaRPr lang="en-US" b="0" dirty="0">
                        <a:latin typeface="Times New Roman" panose="02020603050405020304" pitchFamily="18" charset="0"/>
                        <a:cs typeface="Times New Roman" panose="02020603050405020304" pitchFamily="18" charset="0"/>
                      </a:endParaRPr>
                    </a:p>
                    <a:p>
                      <a:pPr algn="ctr"/>
                      <a:r>
                        <a:rPr lang="en-US" b="0" dirty="0">
                          <a:latin typeface="Times New Roman" panose="02020603050405020304" pitchFamily="18" charset="0"/>
                          <a:cs typeface="Times New Roman" panose="02020603050405020304" pitchFamily="18" charset="0"/>
                        </a:rPr>
                        <a:t>S.NO</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b="0" dirty="0">
                          <a:latin typeface="Times New Roman" panose="02020603050405020304" pitchFamily="18" charset="0"/>
                          <a:cs typeface="Times New Roman" panose="02020603050405020304" pitchFamily="18" charset="0"/>
                        </a:rPr>
                        <a:t>Authors</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b="0" dirty="0">
                          <a:latin typeface="Times New Roman" panose="02020603050405020304" pitchFamily="18" charset="0"/>
                          <a:cs typeface="Times New Roman" panose="02020603050405020304" pitchFamily="18" charset="0"/>
                        </a:rPr>
                        <a:t>Title of The Paper</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b="0" dirty="0">
                          <a:latin typeface="Times New Roman" panose="02020603050405020304" pitchFamily="18" charset="0"/>
                          <a:cs typeface="Times New Roman" panose="02020603050405020304" pitchFamily="18" charset="0"/>
                        </a:rPr>
                        <a:t>Technology Used</a:t>
                      </a:r>
                    </a:p>
                  </a:txBody>
                  <a:tcPr/>
                </a:tc>
                <a:tc>
                  <a:txBody>
                    <a:bodyPr/>
                    <a:lstStyle/>
                    <a:p>
                      <a:pPr algn="ctr"/>
                      <a:endParaRPr lang="en-US" b="0" dirty="0">
                        <a:latin typeface="Times New Roman" panose="02020603050405020304" pitchFamily="18" charset="0"/>
                        <a:cs typeface="Times New Roman" panose="02020603050405020304" pitchFamily="18" charset="0"/>
                      </a:endParaRPr>
                    </a:p>
                    <a:p>
                      <a:pPr algn="ctr"/>
                      <a:r>
                        <a:rPr lang="en-US" b="0" dirty="0">
                          <a:latin typeface="Times New Roman" panose="02020603050405020304" pitchFamily="18" charset="0"/>
                          <a:cs typeface="Times New Roman" panose="02020603050405020304" pitchFamily="18" charset="0"/>
                        </a:rPr>
                        <a:t>Advantages </a:t>
                      </a:r>
                    </a:p>
                  </a:txBody>
                  <a:tcPr/>
                </a:tc>
                <a:tc>
                  <a:txBody>
                    <a:bodyPr/>
                    <a:lstStyle/>
                    <a:p>
                      <a:pPr algn="ctr"/>
                      <a:r>
                        <a:rPr lang="en-US" b="0" dirty="0">
                          <a:latin typeface="Times New Roman" panose="02020603050405020304" pitchFamily="18" charset="0"/>
                          <a:cs typeface="Times New Roman" panose="02020603050405020304" pitchFamily="18" charset="0"/>
                        </a:rPr>
                        <a:t>Research Gaps</a:t>
                      </a:r>
                    </a:p>
                  </a:txBody>
                  <a:tcPr/>
                </a:tc>
                <a:extLst>
                  <a:ext uri="{0D108BD9-81ED-4DB2-BD59-A6C34878D82A}">
                    <a16:rowId xmlns:a16="http://schemas.microsoft.com/office/drawing/2014/main" val="217513990"/>
                  </a:ext>
                </a:extLst>
              </a:tr>
              <a:tr h="1155121">
                <a:tc>
                  <a:txBody>
                    <a:bodyPr/>
                    <a:lstStyle/>
                    <a:p>
                      <a:pPr algn="ctr"/>
                      <a:r>
                        <a:rPr lang="en-US" dirty="0">
                          <a:latin typeface="Times New Roman" panose="02020603050405020304" pitchFamily="18" charset="0"/>
                          <a:cs typeface="Times New Roman" panose="02020603050405020304" pitchFamily="18" charset="0"/>
                        </a:rPr>
                        <a:t>1</a:t>
                      </a:r>
                    </a:p>
                  </a:txBody>
                  <a:tcPr/>
                </a:tc>
                <a:tc>
                  <a:txBody>
                    <a:bodyPr/>
                    <a:lstStyle/>
                    <a:p>
                      <a:pPr algn="l"/>
                      <a:r>
                        <a:rPr lang="en-US" dirty="0">
                          <a:latin typeface="Times New Roman" panose="02020603050405020304" pitchFamily="18" charset="0"/>
                          <a:cs typeface="Times New Roman" panose="02020603050405020304" pitchFamily="18" charset="0"/>
                        </a:rPr>
                        <a:t>Daemen, J., &amp; Rijmen, V.</a:t>
                      </a:r>
                    </a:p>
                  </a:txBody>
                  <a:tcPr/>
                </a:tc>
                <a:tc>
                  <a:txBody>
                    <a:bodyPr/>
                    <a:lstStyle/>
                    <a:p>
                      <a:pPr algn="ctr"/>
                      <a:r>
                        <a:rPr lang="en-US" dirty="0">
                          <a:latin typeface="Times New Roman" panose="02020603050405020304" pitchFamily="18" charset="0"/>
                          <a:cs typeface="Times New Roman" panose="02020603050405020304" pitchFamily="18" charset="0"/>
                        </a:rPr>
                        <a:t>The Design of Rijndael: AES — The Advanced Encryption Standard</a:t>
                      </a:r>
                    </a:p>
                  </a:txBody>
                  <a:tcPr/>
                </a:tc>
                <a:tc>
                  <a:txBody>
                    <a:bodyPr/>
                    <a:lstStyle/>
                    <a:p>
                      <a:pPr algn="ctr"/>
                      <a:r>
                        <a:rPr lang="en-US" dirty="0">
                          <a:latin typeface="Times New Roman" panose="02020603050405020304" pitchFamily="18" charset="0"/>
                          <a:cs typeface="Times New Roman" panose="02020603050405020304" pitchFamily="18" charset="0"/>
                        </a:rPr>
                        <a:t>AES (Symmetric Encryption)</a:t>
                      </a:r>
                    </a:p>
                  </a:txBody>
                  <a:tcPr/>
                </a:tc>
                <a:tc>
                  <a:txBody>
                    <a:bodyPr/>
                    <a:lstStyle/>
                    <a:p>
                      <a:pPr algn="ctr"/>
                      <a:r>
                        <a:rPr lang="en-US" dirty="0">
                          <a:latin typeface="Times New Roman" panose="02020603050405020304" pitchFamily="18" charset="0"/>
                          <a:cs typeface="Times New Roman" panose="02020603050405020304" pitchFamily="18" charset="0"/>
                        </a:rPr>
                        <a:t>High speed, efficient for bulk data encryption</a:t>
                      </a:r>
                    </a:p>
                  </a:txBody>
                  <a:tcPr/>
                </a:tc>
                <a:tc>
                  <a:txBody>
                    <a:bodyPr/>
                    <a:lstStyle/>
                    <a:p>
                      <a:pPr algn="ctr"/>
                      <a:r>
                        <a:rPr lang="en-US" dirty="0">
                          <a:latin typeface="Times New Roman" panose="02020603050405020304" pitchFamily="18" charset="0"/>
                          <a:cs typeface="Times New Roman" panose="02020603050405020304" pitchFamily="18" charset="0"/>
                        </a:rPr>
                        <a:t>Key distribution problem</a:t>
                      </a:r>
                    </a:p>
                  </a:txBody>
                  <a:tcPr/>
                </a:tc>
                <a:extLst>
                  <a:ext uri="{0D108BD9-81ED-4DB2-BD59-A6C34878D82A}">
                    <a16:rowId xmlns:a16="http://schemas.microsoft.com/office/drawing/2014/main" val="3040084831"/>
                  </a:ext>
                </a:extLst>
              </a:tr>
              <a:tr h="917350">
                <a:tc>
                  <a:txBody>
                    <a:bodyPr/>
                    <a:lstStyle/>
                    <a:p>
                      <a:pPr algn="ctr"/>
                      <a:r>
                        <a:rPr lang="en-US" dirty="0">
                          <a:latin typeface="Times New Roman" panose="02020603050405020304" pitchFamily="18" charset="0"/>
                          <a:cs typeface="Times New Roman" panose="02020603050405020304" pitchFamily="18" charset="0"/>
                        </a:rPr>
                        <a:t>2</a:t>
                      </a:r>
                    </a:p>
                  </a:txBody>
                  <a:tcPr/>
                </a:tc>
                <a:tc>
                  <a:txBody>
                    <a:bodyPr/>
                    <a:lstStyle/>
                    <a:p>
                      <a:pPr algn="l"/>
                      <a:r>
                        <a:rPr lang="en-US" dirty="0">
                          <a:latin typeface="Times New Roman" panose="02020603050405020304" pitchFamily="18" charset="0"/>
                          <a:cs typeface="Times New Roman" panose="02020603050405020304" pitchFamily="18" charset="0"/>
                        </a:rPr>
                        <a:t>Tuchman, W.</a:t>
                      </a:r>
                    </a:p>
                  </a:txBody>
                  <a:tcPr/>
                </a:tc>
                <a:tc>
                  <a:txBody>
                    <a:bodyPr/>
                    <a:lstStyle/>
                    <a:p>
                      <a:pPr algn="l">
                        <a:buNone/>
                      </a:pPr>
                      <a:r>
                        <a:rPr lang="en-US" dirty="0">
                          <a:latin typeface="Times New Roman" panose="02020603050405020304" pitchFamily="18" charset="0"/>
                          <a:cs typeface="Times New Roman" panose="02020603050405020304" pitchFamily="18" charset="0"/>
                        </a:rPr>
                        <a:t>Hellman Presents No Shortcut Solutions to DES</a:t>
                      </a:r>
                    </a:p>
                  </a:txBody>
                  <a:tcPr anchor="ctr"/>
                </a:tc>
                <a:tc>
                  <a:txBody>
                    <a:bodyPr/>
                    <a:lstStyle/>
                    <a:p>
                      <a:pPr algn="ctr"/>
                      <a:r>
                        <a:rPr lang="en-US" dirty="0">
                          <a:latin typeface="Times New Roman" panose="02020603050405020304" pitchFamily="18" charset="0"/>
                          <a:cs typeface="Times New Roman" panose="02020603050405020304" pitchFamily="18" charset="0"/>
                        </a:rPr>
                        <a:t>DES / 3DES</a:t>
                      </a:r>
                    </a:p>
                  </a:txBody>
                  <a:tcPr/>
                </a:tc>
                <a:tc>
                  <a:txBody>
                    <a:bodyPr/>
                    <a:lstStyle/>
                    <a:p>
                      <a:pPr algn="ctr"/>
                      <a:r>
                        <a:rPr lang="en-US" dirty="0">
                          <a:latin typeface="Times New Roman" panose="02020603050405020304" pitchFamily="18" charset="0"/>
                          <a:cs typeface="Times New Roman" panose="02020603050405020304" pitchFamily="18" charset="0"/>
                        </a:rPr>
                        <a:t>Strong security for its time</a:t>
                      </a:r>
                    </a:p>
                  </a:txBody>
                  <a:tcPr/>
                </a:tc>
                <a:tc>
                  <a:txBody>
                    <a:bodyPr/>
                    <a:lstStyle/>
                    <a:p>
                      <a:pPr algn="ctr"/>
                      <a:r>
                        <a:rPr lang="en-US" dirty="0">
                          <a:latin typeface="Times New Roman" panose="02020603050405020304" pitchFamily="18" charset="0"/>
                          <a:cs typeface="Times New Roman" panose="02020603050405020304" pitchFamily="18" charset="0"/>
                        </a:rPr>
                        <a:t>Vulnerable to modern attacks, slower performance</a:t>
                      </a:r>
                    </a:p>
                  </a:txBody>
                  <a:tcPr/>
                </a:tc>
                <a:extLst>
                  <a:ext uri="{0D108BD9-81ED-4DB2-BD59-A6C34878D82A}">
                    <a16:rowId xmlns:a16="http://schemas.microsoft.com/office/drawing/2014/main" val="4024545866"/>
                  </a:ext>
                </a:extLst>
              </a:tr>
              <a:tr h="1155121">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l"/>
                      <a:r>
                        <a:rPr lang="en-US" dirty="0">
                          <a:latin typeface="Times New Roman" panose="02020603050405020304" pitchFamily="18" charset="0"/>
                          <a:cs typeface="Times New Roman" panose="02020603050405020304" pitchFamily="18" charset="0"/>
                        </a:rPr>
                        <a:t>Stallings, W.</a:t>
                      </a:r>
                    </a:p>
                  </a:txBody>
                  <a:tcPr/>
                </a:tc>
                <a:tc>
                  <a:txBody>
                    <a:bodyPr/>
                    <a:lstStyle/>
                    <a:p>
                      <a:pPr algn="l"/>
                      <a:r>
                        <a:rPr lang="en-US" dirty="0">
                          <a:latin typeface="Times New Roman" panose="02020603050405020304" pitchFamily="18" charset="0"/>
                          <a:cs typeface="Times New Roman" panose="02020603050405020304" pitchFamily="18" charset="0"/>
                        </a:rPr>
                        <a:t>Cryptography and Network Security: Principles and Practice</a:t>
                      </a:r>
                    </a:p>
                  </a:txBody>
                  <a:tcPr/>
                </a:tc>
                <a:tc>
                  <a:txBody>
                    <a:bodyPr/>
                    <a:lstStyle/>
                    <a:p>
                      <a:pPr algn="ctr"/>
                      <a:r>
                        <a:rPr lang="en-US" dirty="0">
                          <a:latin typeface="Times New Roman" panose="02020603050405020304" pitchFamily="18" charset="0"/>
                          <a:cs typeface="Times New Roman" panose="02020603050405020304" pitchFamily="18" charset="0"/>
                        </a:rPr>
                        <a:t>General Cryptographic Techniques</a:t>
                      </a:r>
                    </a:p>
                  </a:txBody>
                  <a:tcPr/>
                </a:tc>
                <a:tc>
                  <a:txBody>
                    <a:bodyPr/>
                    <a:lstStyle/>
                    <a:p>
                      <a:pPr algn="ctr"/>
                      <a:r>
                        <a:rPr lang="en-US" dirty="0">
                          <a:latin typeface="Times New Roman" panose="02020603050405020304" pitchFamily="18" charset="0"/>
                          <a:cs typeface="Times New Roman" panose="02020603050405020304" pitchFamily="18" charset="0"/>
                        </a:rPr>
                        <a:t>Provides strong theoretical foundation</a:t>
                      </a:r>
                    </a:p>
                  </a:txBody>
                  <a:tcPr/>
                </a:tc>
                <a:tc>
                  <a:txBody>
                    <a:bodyPr/>
                    <a:lstStyle/>
                    <a:p>
                      <a:pPr algn="ctr"/>
                      <a:r>
                        <a:rPr lang="en-US" dirty="0">
                          <a:latin typeface="Times New Roman" panose="02020603050405020304" pitchFamily="18" charset="0"/>
                          <a:cs typeface="Times New Roman" panose="02020603050405020304" pitchFamily="18" charset="0"/>
                        </a:rPr>
                        <a:t>Lacks practical hybrid implementation</a:t>
                      </a:r>
                    </a:p>
                  </a:txBody>
                  <a:tcPr/>
                </a:tc>
                <a:extLst>
                  <a:ext uri="{0D108BD9-81ED-4DB2-BD59-A6C34878D82A}">
                    <a16:rowId xmlns:a16="http://schemas.microsoft.com/office/drawing/2014/main" val="713674061"/>
                  </a:ext>
                </a:extLst>
              </a:tr>
              <a:tr h="1688253">
                <a:tc>
                  <a:txBody>
                    <a:bodyPr/>
                    <a:lstStyle/>
                    <a:p>
                      <a:pPr algn="ctr"/>
                      <a:r>
                        <a:rPr lang="en-US" dirty="0">
                          <a:latin typeface="Times New Roman" panose="02020603050405020304" pitchFamily="18" charset="0"/>
                          <a:cs typeface="Times New Roman" panose="02020603050405020304" pitchFamily="18" charset="0"/>
                        </a:rPr>
                        <a:t>4</a:t>
                      </a:r>
                    </a:p>
                  </a:txBody>
                  <a:tcPr/>
                </a:tc>
                <a:tc>
                  <a:txBody>
                    <a:bodyPr/>
                    <a:lstStyle/>
                    <a:p>
                      <a:pPr algn="l"/>
                      <a:r>
                        <a:rPr lang="en-US" dirty="0">
                          <a:latin typeface="Times New Roman" panose="02020603050405020304" pitchFamily="18" charset="0"/>
                          <a:cs typeface="Times New Roman" panose="02020603050405020304" pitchFamily="18" charset="0"/>
                        </a:rPr>
                        <a:t>Khan, M.</a:t>
                      </a:r>
                    </a:p>
                  </a:txBody>
                  <a:tcPr/>
                </a:tc>
                <a:tc>
                  <a:txBody>
                    <a:bodyPr/>
                    <a:lstStyle/>
                    <a:p>
                      <a:pPr algn="l"/>
                      <a:r>
                        <a:rPr lang="en-US" dirty="0">
                          <a:latin typeface="Times New Roman" panose="02020603050405020304" pitchFamily="18" charset="0"/>
                          <a:cs typeface="Times New Roman" panose="02020603050405020304" pitchFamily="18" charset="0"/>
                        </a:rPr>
                        <a:t>RSA and AES Based Hybrid Encryption Technique for Enhancing Data Security in Cloud Computing</a:t>
                      </a:r>
                    </a:p>
                  </a:txBody>
                  <a:tcPr/>
                </a:tc>
                <a:tc>
                  <a:txBody>
                    <a:bodyPr/>
                    <a:lstStyle/>
                    <a:p>
                      <a:pPr algn="ctr"/>
                      <a:r>
                        <a:rPr lang="en-US" dirty="0">
                          <a:latin typeface="Times New Roman" panose="02020603050405020304" pitchFamily="18" charset="0"/>
                          <a:cs typeface="Times New Roman" panose="02020603050405020304" pitchFamily="18" charset="0"/>
                        </a:rPr>
                        <a:t>AES + RSA Hybrid</a:t>
                      </a:r>
                    </a:p>
                  </a:txBody>
                  <a:tcPr/>
                </a:tc>
                <a:tc>
                  <a:txBody>
                    <a:bodyPr/>
                    <a:lstStyle/>
                    <a:p>
                      <a:pPr algn="ctr"/>
                      <a:r>
                        <a:rPr lang="en-US" dirty="0">
                          <a:latin typeface="Times New Roman" panose="02020603050405020304" pitchFamily="18" charset="0"/>
                          <a:cs typeface="Times New Roman" panose="02020603050405020304" pitchFamily="18" charset="0"/>
                        </a:rPr>
                        <a:t>Improved security and key management</a:t>
                      </a:r>
                    </a:p>
                  </a:txBody>
                  <a:tcPr/>
                </a:tc>
                <a:tc>
                  <a:txBody>
                    <a:bodyPr/>
                    <a:lstStyle/>
                    <a:p>
                      <a:pPr algn="ctr"/>
                      <a:r>
                        <a:rPr lang="en-US" dirty="0">
                          <a:latin typeface="Times New Roman" panose="02020603050405020304" pitchFamily="18" charset="0"/>
                          <a:cs typeface="Times New Roman" panose="02020603050405020304" pitchFamily="18" charset="0"/>
                        </a:rPr>
                        <a:t>Slight performance overhead</a:t>
                      </a:r>
                    </a:p>
                  </a:txBody>
                  <a:tcPr/>
                </a:tc>
                <a:extLst>
                  <a:ext uri="{0D108BD9-81ED-4DB2-BD59-A6C34878D82A}">
                    <a16:rowId xmlns:a16="http://schemas.microsoft.com/office/drawing/2014/main" val="3960203137"/>
                  </a:ext>
                </a:extLst>
              </a:tr>
              <a:tr h="1155121">
                <a:tc>
                  <a:txBody>
                    <a:bodyPr/>
                    <a:lstStyle/>
                    <a:p>
                      <a:pPr algn="ctr"/>
                      <a:r>
                        <a:rPr lang="en-US" dirty="0">
                          <a:latin typeface="Times New Roman" panose="02020603050405020304" pitchFamily="18" charset="0"/>
                          <a:cs typeface="Times New Roman" panose="02020603050405020304" pitchFamily="18" charset="0"/>
                        </a:rPr>
                        <a:t>5</a:t>
                      </a:r>
                    </a:p>
                  </a:txBody>
                  <a:tcPr/>
                </a:tc>
                <a:tc>
                  <a:txBody>
                    <a:bodyPr/>
                    <a:lstStyle/>
                    <a:p>
                      <a:pPr algn="l"/>
                      <a:r>
                        <a:rPr lang="en-US" dirty="0">
                          <a:latin typeface="Times New Roman" panose="02020603050405020304" pitchFamily="18" charset="0"/>
                          <a:cs typeface="Times New Roman" panose="02020603050405020304" pitchFamily="18" charset="0"/>
                        </a:rPr>
                        <a:t>Bharti, J., &amp; Singh, S.</a:t>
                      </a:r>
                    </a:p>
                  </a:txBody>
                  <a:tcPr/>
                </a:tc>
                <a:tc>
                  <a:txBody>
                    <a:bodyPr/>
                    <a:lstStyle/>
                    <a:p>
                      <a:pPr algn="l"/>
                      <a:r>
                        <a:rPr lang="en-US" dirty="0">
                          <a:latin typeface="Times New Roman" panose="02020603050405020304" pitchFamily="18" charset="0"/>
                          <a:cs typeface="Times New Roman" panose="02020603050405020304" pitchFamily="18" charset="0"/>
                        </a:rPr>
                        <a:t>A Hybrid Approach Using AES-RSA Encryption for Cloud Data Security</a:t>
                      </a:r>
                    </a:p>
                  </a:txBody>
                  <a:tcPr/>
                </a:tc>
                <a:tc>
                  <a:txBody>
                    <a:bodyPr/>
                    <a:lstStyle/>
                    <a:p>
                      <a:pPr algn="ctr"/>
                      <a:r>
                        <a:rPr lang="en-US" dirty="0">
                          <a:latin typeface="Times New Roman" panose="02020603050405020304" pitchFamily="18" charset="0"/>
                          <a:cs typeface="Times New Roman" panose="02020603050405020304" pitchFamily="18" charset="0"/>
                        </a:rPr>
                        <a:t>AES + RSA Hybrid</a:t>
                      </a:r>
                    </a:p>
                  </a:txBody>
                  <a:tcPr/>
                </a:tc>
                <a:tc>
                  <a:txBody>
                    <a:bodyPr/>
                    <a:lstStyle/>
                    <a:p>
                      <a:pPr algn="ctr"/>
                      <a:r>
                        <a:rPr lang="en-US" dirty="0">
                          <a:latin typeface="Times New Roman" panose="02020603050405020304" pitchFamily="18" charset="0"/>
                          <a:cs typeface="Times New Roman" panose="02020603050405020304" pitchFamily="18" charset="0"/>
                        </a:rPr>
                        <a:t>Balanced security and performance</a:t>
                      </a:r>
                    </a:p>
                  </a:txBody>
                  <a:tcPr/>
                </a:tc>
                <a:tc>
                  <a:txBody>
                    <a:bodyPr/>
                    <a:lstStyle/>
                    <a:p>
                      <a:pPr algn="ctr"/>
                      <a:r>
                        <a:rPr lang="en-US" dirty="0">
                          <a:latin typeface="Times New Roman" panose="02020603050405020304" pitchFamily="18" charset="0"/>
                          <a:cs typeface="Times New Roman" panose="02020603050405020304" pitchFamily="18" charset="0"/>
                        </a:rPr>
                        <a:t>Needs optimization for large-scale systems</a:t>
                      </a:r>
                    </a:p>
                  </a:txBody>
                  <a:tcPr/>
                </a:tc>
                <a:extLst>
                  <a:ext uri="{0D108BD9-81ED-4DB2-BD59-A6C34878D82A}">
                    <a16:rowId xmlns:a16="http://schemas.microsoft.com/office/drawing/2014/main" val="2662829893"/>
                  </a:ext>
                </a:extLst>
              </a:tr>
            </a:tbl>
          </a:graphicData>
        </a:graphic>
      </p:graphicFrame>
      <p:sp>
        <p:nvSpPr>
          <p:cNvPr id="4" name="TextBox 3">
            <a:extLst>
              <a:ext uri="{FF2B5EF4-FFF2-40B4-BE49-F238E27FC236}">
                <a16:creationId xmlns:a16="http://schemas.microsoft.com/office/drawing/2014/main" id="{9C2166BD-FE45-5F53-BED7-9DE5C63F0639}"/>
              </a:ext>
            </a:extLst>
          </p:cNvPr>
          <p:cNvSpPr txBox="1"/>
          <p:nvPr/>
        </p:nvSpPr>
        <p:spPr>
          <a:xfrm>
            <a:off x="6553200" y="495300"/>
            <a:ext cx="4800600" cy="707886"/>
          </a:xfrm>
          <a:prstGeom prst="rect">
            <a:avLst/>
          </a:prstGeom>
          <a:noFill/>
        </p:spPr>
        <p:txBody>
          <a:bodyPr wrap="square">
            <a:spAutoFit/>
          </a:bodyPr>
          <a:lstStyle/>
          <a:p>
            <a:pPr algn="ctr"/>
            <a:r>
              <a:rPr lang="en-US" sz="4000"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737D7CB9-3955-23E1-094F-4CEC76359059}"/>
              </a:ext>
            </a:extLst>
          </p:cNvPr>
          <p:cNvSpPr txBox="1"/>
          <p:nvPr/>
        </p:nvSpPr>
        <p:spPr>
          <a:xfrm>
            <a:off x="6248400" y="8648700"/>
            <a:ext cx="6781800" cy="461665"/>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Table-1: Literature Review of Existing Approaches</a:t>
            </a:r>
          </a:p>
        </p:txBody>
      </p:sp>
    </p:spTree>
    <p:extLst>
      <p:ext uri="{BB962C8B-B14F-4D97-AF65-F5344CB8AC3E}">
        <p14:creationId xmlns:p14="http://schemas.microsoft.com/office/powerpoint/2010/main" val="3955732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8E07713F-DAD1-8B3F-80B9-921063D7F1B6}"/>
              </a:ext>
            </a:extLst>
          </p:cNvPr>
          <p:cNvSpPr txBox="1"/>
          <p:nvPr/>
        </p:nvSpPr>
        <p:spPr>
          <a:xfrm>
            <a:off x="981340" y="705099"/>
            <a:ext cx="9153259" cy="745397"/>
          </a:xfrm>
          <a:prstGeom prst="rect">
            <a:avLst/>
          </a:prstGeom>
        </p:spPr>
        <p:txBody>
          <a:bodyPr wrap="square" lIns="0" tIns="0" rIns="0" bIns="0" rtlCol="0" anchor="t">
            <a:spAutoFit/>
          </a:bodyPr>
          <a:lstStyle/>
          <a:p>
            <a:pPr algn="l">
              <a:lnSpc>
                <a:spcPts val="6509"/>
              </a:lnSpc>
            </a:pPr>
            <a:r>
              <a:rPr lang="en-US" sz="3200" b="1" dirty="0">
                <a:solidFill>
                  <a:srgbClr val="00002E"/>
                </a:solidFill>
                <a:latin typeface="Times New Roman" panose="02020603050405020304" pitchFamily="18" charset="0"/>
                <a:ea typeface="Times New Roman"/>
                <a:cs typeface="Times New Roman" panose="02020603050405020304" pitchFamily="18" charset="0"/>
                <a:sym typeface="Times New Roman"/>
              </a:rPr>
              <a:t>Proposed System</a:t>
            </a:r>
            <a:r>
              <a:rPr lang="en-US" sz="3200" dirty="0">
                <a:solidFill>
                  <a:srgbClr val="00002E"/>
                </a:solidFill>
                <a:latin typeface="Times New Roman" panose="02020603050405020304" pitchFamily="18" charset="0"/>
                <a:ea typeface="Times New Roman"/>
                <a:cs typeface="Times New Roman" panose="02020603050405020304" pitchFamily="18" charset="0"/>
                <a:sym typeface="Times New Roman"/>
              </a:rPr>
              <a:t>:</a:t>
            </a:r>
          </a:p>
        </p:txBody>
      </p:sp>
      <p:sp>
        <p:nvSpPr>
          <p:cNvPr id="3" name="TextBox 6">
            <a:extLst>
              <a:ext uri="{FF2B5EF4-FFF2-40B4-BE49-F238E27FC236}">
                <a16:creationId xmlns:a16="http://schemas.microsoft.com/office/drawing/2014/main" id="{138F84CA-B84F-5631-73DC-63E4A221E345}"/>
              </a:ext>
            </a:extLst>
          </p:cNvPr>
          <p:cNvSpPr txBox="1"/>
          <p:nvPr/>
        </p:nvSpPr>
        <p:spPr>
          <a:xfrm>
            <a:off x="990600" y="1638300"/>
            <a:ext cx="16078200" cy="3083921"/>
          </a:xfrm>
          <a:prstGeom prst="rect">
            <a:avLst/>
          </a:prstGeom>
        </p:spPr>
        <p:txBody>
          <a:bodyPr wrap="square" lIns="0" tIns="0" rIns="0" bIns="0" rtlCol="0" anchor="t">
            <a:spAutoFit/>
          </a:bodyPr>
          <a:lstStyle/>
          <a:p>
            <a:pPr algn="just">
              <a:lnSpc>
                <a:spcPts val="4195"/>
              </a:lnSpc>
            </a:pPr>
            <a:r>
              <a:rPr lang="en-US" sz="2125" dirty="0">
                <a:solidFill>
                  <a:srgbClr val="00002E"/>
                </a:solidFill>
                <a:latin typeface="Times New Roman" panose="02020603050405020304" pitchFamily="18" charset="0"/>
                <a:ea typeface="Times New Roman"/>
                <a:cs typeface="Times New Roman" panose="02020603050405020304" pitchFamily="18" charset="0"/>
                <a:sym typeface="Times New Roman"/>
              </a:rPr>
              <a:t>Our proposed system integrates a hybrid cryptographic encryption model to leverage the best of both worlds: The </a:t>
            </a:r>
            <a:r>
              <a:rPr lang="en-US" sz="2125"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speed</a:t>
            </a:r>
            <a:r>
              <a:rPr lang="en-US" sz="2125" dirty="0">
                <a:solidFill>
                  <a:srgbClr val="00002E"/>
                </a:solidFill>
                <a:latin typeface="Times New Roman" panose="02020603050405020304" pitchFamily="18" charset="0"/>
                <a:ea typeface="Times New Roman"/>
                <a:cs typeface="Times New Roman" panose="02020603050405020304" pitchFamily="18" charset="0"/>
                <a:sym typeface="Times New Roman"/>
              </a:rPr>
              <a:t> of symmetric encryption and the </a:t>
            </a:r>
            <a:r>
              <a:rPr lang="en-US" sz="2125"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security</a:t>
            </a:r>
            <a:r>
              <a:rPr lang="en-US" sz="2125" dirty="0">
                <a:solidFill>
                  <a:srgbClr val="00002E"/>
                </a:solidFill>
                <a:latin typeface="Times New Roman" panose="02020603050405020304" pitchFamily="18" charset="0"/>
                <a:ea typeface="Times New Roman"/>
                <a:cs typeface="Times New Roman" panose="02020603050405020304" pitchFamily="18" charset="0"/>
                <a:sym typeface="Times New Roman"/>
              </a:rPr>
              <a:t> of asymmetric key exchange.</a:t>
            </a:r>
          </a:p>
          <a:p>
            <a:pPr algn="just"/>
            <a:endParaRPr lang="en-US" sz="2000" dirty="0">
              <a:latin typeface="Times New Roman" panose="02020603050405020304" pitchFamily="18" charset="0"/>
              <a:cs typeface="Times New Roman" panose="02020603050405020304" pitchFamily="18" charset="0"/>
            </a:endParaRPr>
          </a:p>
          <a:p>
            <a:pPr lvl="8"/>
            <a:r>
              <a:rPr lang="en-US" sz="2000" dirty="0">
                <a:latin typeface="Times New Roman" panose="02020603050405020304" pitchFamily="18" charset="0"/>
                <a:cs typeface="Times New Roman" panose="02020603050405020304" pitchFamily="18" charset="0"/>
              </a:rPr>
              <a:t>	</a:t>
            </a:r>
          </a:p>
          <a:p>
            <a:pPr lvl="8"/>
            <a:r>
              <a:rPr lang="en-US" sz="2000" dirty="0">
                <a:latin typeface="Times New Roman" panose="02020603050405020304" pitchFamily="18" charset="0"/>
                <a:cs typeface="Times New Roman" panose="02020603050405020304" pitchFamily="18" charset="0"/>
              </a:rPr>
              <a:t>               AES → Data encryption </a:t>
            </a:r>
          </a:p>
          <a:p>
            <a:pPr lvl="8"/>
            <a:r>
              <a:rPr lang="en-US" sz="2000" dirty="0">
                <a:latin typeface="Times New Roman" panose="02020603050405020304" pitchFamily="18" charset="0"/>
                <a:cs typeface="Times New Roman" panose="02020603050405020304" pitchFamily="18" charset="0"/>
              </a:rPr>
              <a:t>	RSA → Key exchange </a:t>
            </a:r>
          </a:p>
          <a:p>
            <a:pPr lvl="8"/>
            <a:r>
              <a:rPr lang="en-US" sz="2000" dirty="0">
                <a:latin typeface="Times New Roman" panose="02020603050405020304" pitchFamily="18" charset="0"/>
                <a:cs typeface="Times New Roman" panose="02020603050405020304" pitchFamily="18" charset="0"/>
              </a:rPr>
              <a:t>	Hybrid = Secure + Fast </a:t>
            </a:r>
          </a:p>
          <a:p>
            <a:pPr algn="just">
              <a:lnSpc>
                <a:spcPts val="4195"/>
              </a:lnSpc>
            </a:pPr>
            <a:endParaRPr lang="en-US" sz="2125" dirty="0">
              <a:solidFill>
                <a:srgbClr val="00002E"/>
              </a:solidFill>
              <a:latin typeface="Times New Roman" panose="02020603050405020304" pitchFamily="18" charset="0"/>
              <a:ea typeface="Times New Roman"/>
              <a:cs typeface="Times New Roman" panose="02020603050405020304" pitchFamily="18" charset="0"/>
              <a:sym typeface="Times New Roman"/>
            </a:endParaRPr>
          </a:p>
        </p:txBody>
      </p:sp>
      <p:sp>
        <p:nvSpPr>
          <p:cNvPr id="4" name="TextBox 8">
            <a:extLst>
              <a:ext uri="{FF2B5EF4-FFF2-40B4-BE49-F238E27FC236}">
                <a16:creationId xmlns:a16="http://schemas.microsoft.com/office/drawing/2014/main" id="{136B6FB2-600C-9A51-6E62-7D5B08D33F0B}"/>
              </a:ext>
            </a:extLst>
          </p:cNvPr>
          <p:cNvSpPr txBox="1"/>
          <p:nvPr/>
        </p:nvSpPr>
        <p:spPr>
          <a:xfrm>
            <a:off x="2468584" y="4946457"/>
            <a:ext cx="2923606" cy="396519"/>
          </a:xfrm>
          <a:prstGeom prst="rect">
            <a:avLst/>
          </a:prstGeom>
        </p:spPr>
        <p:txBody>
          <a:bodyPr wrap="square" lIns="0" tIns="0" rIns="0" bIns="0" rtlCol="0" anchor="t">
            <a:spAutoFit/>
          </a:bodyPr>
          <a:lstStyle/>
          <a:p>
            <a:pPr algn="l">
              <a:lnSpc>
                <a:spcPts val="3449"/>
              </a:lnSpc>
            </a:pPr>
            <a:r>
              <a:rPr lang="en-US" sz="2312" dirty="0">
                <a:solidFill>
                  <a:srgbClr val="00002E"/>
                </a:solidFill>
                <a:latin typeface="Times New Roman" panose="02020603050405020304" pitchFamily="18" charset="0"/>
                <a:ea typeface="Times New Roman"/>
                <a:cs typeface="Times New Roman" panose="02020603050405020304" pitchFamily="18" charset="0"/>
                <a:sym typeface="Times New Roman"/>
              </a:rPr>
              <a:t>AES for Data</a:t>
            </a:r>
          </a:p>
        </p:txBody>
      </p:sp>
      <p:sp>
        <p:nvSpPr>
          <p:cNvPr id="5" name="TextBox 9">
            <a:extLst>
              <a:ext uri="{FF2B5EF4-FFF2-40B4-BE49-F238E27FC236}">
                <a16:creationId xmlns:a16="http://schemas.microsoft.com/office/drawing/2014/main" id="{CF608EE2-BA89-F3F4-2D45-6D7520A511E4}"/>
              </a:ext>
            </a:extLst>
          </p:cNvPr>
          <p:cNvSpPr txBox="1"/>
          <p:nvPr/>
        </p:nvSpPr>
        <p:spPr>
          <a:xfrm>
            <a:off x="2468584" y="5385045"/>
            <a:ext cx="7985092" cy="423706"/>
          </a:xfrm>
          <a:prstGeom prst="rect">
            <a:avLst/>
          </a:prstGeom>
        </p:spPr>
        <p:txBody>
          <a:bodyPr wrap="square" lIns="0" tIns="0" rIns="0" bIns="0" rtlCol="0" anchor="t">
            <a:spAutoFit/>
          </a:bodyPr>
          <a:lstStyle/>
          <a:p>
            <a:pPr algn="l">
              <a:lnSpc>
                <a:spcPts val="3824"/>
              </a:lnSpc>
            </a:pPr>
            <a:r>
              <a:rPr lang="en-US" sz="1937" dirty="0">
                <a:solidFill>
                  <a:srgbClr val="00002E"/>
                </a:solidFill>
                <a:latin typeface="Times New Roman" panose="02020603050405020304" pitchFamily="18" charset="0"/>
                <a:ea typeface="Times New Roman"/>
                <a:cs typeface="Times New Roman" panose="02020603050405020304" pitchFamily="18" charset="0"/>
                <a:sym typeface="Times New Roman"/>
              </a:rPr>
              <a:t>Utilizes AES for the high-speed encryption and decryption of bulk data.</a:t>
            </a:r>
          </a:p>
        </p:txBody>
      </p:sp>
      <p:sp>
        <p:nvSpPr>
          <p:cNvPr id="6" name="TextBox 11">
            <a:extLst>
              <a:ext uri="{FF2B5EF4-FFF2-40B4-BE49-F238E27FC236}">
                <a16:creationId xmlns:a16="http://schemas.microsoft.com/office/drawing/2014/main" id="{FC70A314-469D-5301-A670-33225BD5A116}"/>
              </a:ext>
            </a:extLst>
          </p:cNvPr>
          <p:cNvSpPr txBox="1"/>
          <p:nvPr/>
        </p:nvSpPr>
        <p:spPr>
          <a:xfrm>
            <a:off x="2468583" y="6465990"/>
            <a:ext cx="3760359" cy="396519"/>
          </a:xfrm>
          <a:prstGeom prst="rect">
            <a:avLst/>
          </a:prstGeom>
        </p:spPr>
        <p:txBody>
          <a:bodyPr wrap="square" lIns="0" tIns="0" rIns="0" bIns="0" rtlCol="0" anchor="t">
            <a:spAutoFit/>
          </a:bodyPr>
          <a:lstStyle/>
          <a:p>
            <a:pPr algn="l">
              <a:lnSpc>
                <a:spcPts val="3449"/>
              </a:lnSpc>
            </a:pPr>
            <a:r>
              <a:rPr lang="en-US" sz="2312" dirty="0">
                <a:solidFill>
                  <a:srgbClr val="00002E"/>
                </a:solidFill>
                <a:latin typeface="Times New Roman" panose="02020603050405020304" pitchFamily="18" charset="0"/>
                <a:ea typeface="Times New Roman"/>
                <a:cs typeface="Times New Roman" panose="02020603050405020304" pitchFamily="18" charset="0"/>
                <a:sym typeface="Times New Roman"/>
              </a:rPr>
              <a:t>Asymmetric Key Exchange</a:t>
            </a:r>
          </a:p>
        </p:txBody>
      </p:sp>
      <p:sp>
        <p:nvSpPr>
          <p:cNvPr id="7" name="TextBox 12">
            <a:extLst>
              <a:ext uri="{FF2B5EF4-FFF2-40B4-BE49-F238E27FC236}">
                <a16:creationId xmlns:a16="http://schemas.microsoft.com/office/drawing/2014/main" id="{4E532A89-0023-2F6B-F3C3-EC4422953C64}"/>
              </a:ext>
            </a:extLst>
          </p:cNvPr>
          <p:cNvSpPr txBox="1"/>
          <p:nvPr/>
        </p:nvSpPr>
        <p:spPr>
          <a:xfrm>
            <a:off x="2468584" y="6904578"/>
            <a:ext cx="7454448" cy="911019"/>
          </a:xfrm>
          <a:prstGeom prst="rect">
            <a:avLst/>
          </a:prstGeom>
        </p:spPr>
        <p:txBody>
          <a:bodyPr wrap="square" lIns="0" tIns="0" rIns="0" bIns="0" rtlCol="0" anchor="t">
            <a:spAutoFit/>
          </a:bodyPr>
          <a:lstStyle/>
          <a:p>
            <a:pPr algn="l">
              <a:lnSpc>
                <a:spcPts val="3824"/>
              </a:lnSpc>
            </a:pPr>
            <a:r>
              <a:rPr lang="en-US" sz="1937" dirty="0">
                <a:solidFill>
                  <a:srgbClr val="00002E"/>
                </a:solidFill>
                <a:latin typeface="Times New Roman" panose="02020603050405020304" pitchFamily="18" charset="0"/>
                <a:ea typeface="Times New Roman"/>
                <a:cs typeface="Times New Roman" panose="02020603050405020304" pitchFamily="18" charset="0"/>
                <a:sym typeface="Times New Roman"/>
              </a:rPr>
              <a:t>Employs asymmetric encryption for the secure and reliable exchange of the AES session key.</a:t>
            </a:r>
          </a:p>
        </p:txBody>
      </p:sp>
      <p:sp>
        <p:nvSpPr>
          <p:cNvPr id="8" name="TextBox 14">
            <a:extLst>
              <a:ext uri="{FF2B5EF4-FFF2-40B4-BE49-F238E27FC236}">
                <a16:creationId xmlns:a16="http://schemas.microsoft.com/office/drawing/2014/main" id="{1CE23E8A-3CB8-0557-C1CB-A769650AAF2D}"/>
              </a:ext>
            </a:extLst>
          </p:cNvPr>
          <p:cNvSpPr txBox="1"/>
          <p:nvPr/>
        </p:nvSpPr>
        <p:spPr>
          <a:xfrm>
            <a:off x="2468584" y="8307144"/>
            <a:ext cx="1928589" cy="396519"/>
          </a:xfrm>
          <a:prstGeom prst="rect">
            <a:avLst/>
          </a:prstGeom>
        </p:spPr>
        <p:txBody>
          <a:bodyPr wrap="square" lIns="0" tIns="0" rIns="0" bIns="0" rtlCol="0" anchor="t">
            <a:spAutoFit/>
          </a:bodyPr>
          <a:lstStyle/>
          <a:p>
            <a:pPr algn="l">
              <a:lnSpc>
                <a:spcPts val="3449"/>
              </a:lnSpc>
            </a:pPr>
            <a:r>
              <a:rPr lang="en-US" sz="2312" dirty="0">
                <a:solidFill>
                  <a:srgbClr val="00002E"/>
                </a:solidFill>
                <a:latin typeface="Times New Roman" panose="02020603050405020304" pitchFamily="18" charset="0"/>
                <a:ea typeface="Times New Roman"/>
                <a:cs typeface="Times New Roman" panose="02020603050405020304" pitchFamily="18" charset="0"/>
                <a:sym typeface="Times New Roman"/>
              </a:rPr>
              <a:t>Dual Goal</a:t>
            </a:r>
          </a:p>
        </p:txBody>
      </p:sp>
      <p:sp>
        <p:nvSpPr>
          <p:cNvPr id="9" name="TextBox 15">
            <a:extLst>
              <a:ext uri="{FF2B5EF4-FFF2-40B4-BE49-F238E27FC236}">
                <a16:creationId xmlns:a16="http://schemas.microsoft.com/office/drawing/2014/main" id="{ED961078-7A0E-A6C4-FF7D-9244F9A21960}"/>
              </a:ext>
            </a:extLst>
          </p:cNvPr>
          <p:cNvSpPr txBox="1"/>
          <p:nvPr/>
        </p:nvSpPr>
        <p:spPr>
          <a:xfrm>
            <a:off x="2487634" y="8745732"/>
            <a:ext cx="8225319" cy="423706"/>
          </a:xfrm>
          <a:prstGeom prst="rect">
            <a:avLst/>
          </a:prstGeom>
        </p:spPr>
        <p:txBody>
          <a:bodyPr wrap="square" lIns="0" tIns="0" rIns="0" bIns="0" rtlCol="0" anchor="t">
            <a:spAutoFit/>
          </a:bodyPr>
          <a:lstStyle/>
          <a:p>
            <a:pPr algn="l">
              <a:lnSpc>
                <a:spcPts val="3824"/>
              </a:lnSpc>
            </a:pPr>
            <a:r>
              <a:rPr lang="en-US" sz="1937" dirty="0">
                <a:solidFill>
                  <a:srgbClr val="00002E"/>
                </a:solidFill>
                <a:latin typeface="Times New Roman" panose="02020603050405020304" pitchFamily="18" charset="0"/>
                <a:ea typeface="Times New Roman"/>
                <a:cs typeface="Times New Roman" panose="02020603050405020304" pitchFamily="18" charset="0"/>
                <a:sym typeface="Times New Roman"/>
              </a:rPr>
              <a:t>Aims to achieve both robust security and efficient performance.</a:t>
            </a:r>
          </a:p>
        </p:txBody>
      </p:sp>
      <p:pic>
        <p:nvPicPr>
          <p:cNvPr id="10" name="Picture 9">
            <a:extLst>
              <a:ext uri="{FF2B5EF4-FFF2-40B4-BE49-F238E27FC236}">
                <a16:creationId xmlns:a16="http://schemas.microsoft.com/office/drawing/2014/main" id="{6647DBA7-8293-78F2-1A25-1896699E8D8D}"/>
              </a:ext>
            </a:extLst>
          </p:cNvPr>
          <p:cNvPicPr>
            <a:picLocks noChangeAspect="1"/>
          </p:cNvPicPr>
          <p:nvPr/>
        </p:nvPicPr>
        <p:blipFill>
          <a:blip r:embed="rId2"/>
          <a:srcRect l="9121" r="10772"/>
          <a:stretch>
            <a:fillRect/>
          </a:stretch>
        </p:blipFill>
        <p:spPr>
          <a:xfrm>
            <a:off x="990599" y="4762501"/>
            <a:ext cx="1407414" cy="4920376"/>
          </a:xfrm>
          <a:prstGeom prst="rect">
            <a:avLst/>
          </a:prstGeom>
        </p:spPr>
      </p:pic>
    </p:spTree>
    <p:extLst>
      <p:ext uri="{BB962C8B-B14F-4D97-AF65-F5344CB8AC3E}">
        <p14:creationId xmlns:p14="http://schemas.microsoft.com/office/powerpoint/2010/main" val="1394068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8405F69-B3AF-3350-0645-24167094D53F}"/>
              </a:ext>
            </a:extLst>
          </p:cNvPr>
          <p:cNvSpPr txBox="1"/>
          <p:nvPr/>
        </p:nvSpPr>
        <p:spPr>
          <a:xfrm>
            <a:off x="838200" y="245745"/>
            <a:ext cx="13152549"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System Architecture : </a:t>
            </a:r>
          </a:p>
        </p:txBody>
      </p:sp>
      <p:sp>
        <p:nvSpPr>
          <p:cNvPr id="9" name="TextBox 8">
            <a:extLst>
              <a:ext uri="{FF2B5EF4-FFF2-40B4-BE49-F238E27FC236}">
                <a16:creationId xmlns:a16="http://schemas.microsoft.com/office/drawing/2014/main" id="{72852A00-9AB5-9B5E-8FBC-40A711DDC04C}"/>
              </a:ext>
            </a:extLst>
          </p:cNvPr>
          <p:cNvSpPr txBox="1"/>
          <p:nvPr/>
        </p:nvSpPr>
        <p:spPr>
          <a:xfrm>
            <a:off x="3238500" y="7200900"/>
            <a:ext cx="13792200" cy="224676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Encryption Phase</a:t>
            </a:r>
          </a:p>
          <a:p>
            <a:pPr>
              <a:buNone/>
            </a:pPr>
            <a:endParaRPr lang="en-US" sz="2000" b="1" dirty="0">
              <a:latin typeface="Times New Roman" panose="02020603050405020304" pitchFamily="18" charset="0"/>
              <a:cs typeface="Times New Roman" panose="02020603050405020304" pitchFamily="18" charset="0"/>
            </a:endParaRPr>
          </a:p>
          <a:p>
            <a:pPr>
              <a:buFont typeface="+mj-lt"/>
              <a:buAutoNum type="arabicPeriod"/>
            </a:pPr>
            <a:r>
              <a:rPr lang="en-US" sz="2000" dirty="0">
                <a:latin typeface="Times New Roman" panose="02020603050405020304" pitchFamily="18" charset="0"/>
                <a:cs typeface="Times New Roman" panose="02020603050405020304" pitchFamily="18" charset="0"/>
              </a:rPr>
              <a:t> User provides input data (file/text)</a:t>
            </a:r>
          </a:p>
          <a:p>
            <a:pPr>
              <a:buFont typeface="+mj-lt"/>
              <a:buAutoNum type="arabicPeriod"/>
            </a:pPr>
            <a:r>
              <a:rPr lang="en-US" sz="2000" dirty="0">
                <a:latin typeface="Times New Roman" panose="02020603050405020304" pitchFamily="18" charset="0"/>
                <a:cs typeface="Times New Roman" panose="02020603050405020304" pitchFamily="18" charset="0"/>
              </a:rPr>
              <a:t> AES algorithm encrypts the data → </a:t>
            </a:r>
            <a:r>
              <a:rPr lang="en-US" sz="2000" b="1" dirty="0">
                <a:latin typeface="Times New Roman" panose="02020603050405020304" pitchFamily="18" charset="0"/>
                <a:cs typeface="Times New Roman" panose="02020603050405020304" pitchFamily="18" charset="0"/>
              </a:rPr>
              <a:t>Cipher Text</a:t>
            </a:r>
            <a:r>
              <a:rPr lang="en-US" sz="2000" dirty="0">
                <a:latin typeface="Times New Roman" panose="02020603050405020304" pitchFamily="18" charset="0"/>
                <a:cs typeface="Times New Roman" panose="02020603050405020304" pitchFamily="18" charset="0"/>
              </a:rPr>
              <a:t> </a:t>
            </a:r>
          </a:p>
          <a:p>
            <a:pPr>
              <a:buFont typeface="+mj-lt"/>
              <a:buAutoNum type="arabicPeriod"/>
            </a:pPr>
            <a:r>
              <a:rPr lang="en-US" sz="2000" dirty="0">
                <a:latin typeface="Times New Roman" panose="02020603050405020304" pitchFamily="18" charset="0"/>
                <a:cs typeface="Times New Roman" panose="02020603050405020304" pitchFamily="18" charset="0"/>
              </a:rPr>
              <a:t> AES secret key is generated dynamically </a:t>
            </a:r>
          </a:p>
          <a:p>
            <a:pPr>
              <a:buFont typeface="+mj-lt"/>
              <a:buAutoNum type="arabicPeriod"/>
            </a:pPr>
            <a:r>
              <a:rPr lang="en-US" sz="2000" dirty="0">
                <a:latin typeface="Times New Roman" panose="02020603050405020304" pitchFamily="18" charset="0"/>
                <a:cs typeface="Times New Roman" panose="02020603050405020304" pitchFamily="18" charset="0"/>
              </a:rPr>
              <a:t> RSA encrypts the AES key → </a:t>
            </a:r>
            <a:r>
              <a:rPr lang="en-US" sz="2000" b="1" dirty="0">
                <a:latin typeface="Times New Roman" panose="02020603050405020304" pitchFamily="18" charset="0"/>
                <a:cs typeface="Times New Roman" panose="02020603050405020304" pitchFamily="18" charset="0"/>
              </a:rPr>
              <a:t>Encrypted Key</a:t>
            </a:r>
            <a:r>
              <a:rPr lang="en-US" sz="2000" dirty="0">
                <a:latin typeface="Times New Roman" panose="02020603050405020304" pitchFamily="18" charset="0"/>
                <a:cs typeface="Times New Roman" panose="02020603050405020304" pitchFamily="18" charset="0"/>
              </a:rPr>
              <a:t> </a:t>
            </a:r>
          </a:p>
          <a:p>
            <a:pPr>
              <a:buFont typeface="+mj-lt"/>
              <a:buAutoNum type="arabicPeriod"/>
            </a:pPr>
            <a:r>
              <a:rPr lang="en-US" sz="2000" dirty="0">
                <a:latin typeface="Times New Roman" panose="02020603050405020304" pitchFamily="18" charset="0"/>
                <a:cs typeface="Times New Roman" panose="02020603050405020304" pitchFamily="18" charset="0"/>
              </a:rPr>
              <a:t> Cipher Text + Encrypted Key are transmitted</a:t>
            </a:r>
          </a:p>
        </p:txBody>
      </p:sp>
      <p:sp>
        <p:nvSpPr>
          <p:cNvPr id="11" name="TextBox 10">
            <a:extLst>
              <a:ext uri="{FF2B5EF4-FFF2-40B4-BE49-F238E27FC236}">
                <a16:creationId xmlns:a16="http://schemas.microsoft.com/office/drawing/2014/main" id="{D2470742-73A8-4F12-338F-C87356281083}"/>
              </a:ext>
            </a:extLst>
          </p:cNvPr>
          <p:cNvSpPr txBox="1"/>
          <p:nvPr/>
        </p:nvSpPr>
        <p:spPr>
          <a:xfrm>
            <a:off x="10096500" y="7354788"/>
            <a:ext cx="5105400" cy="1938992"/>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Decryption Phase</a:t>
            </a:r>
          </a:p>
          <a:p>
            <a:pPr>
              <a:buNone/>
            </a:pPr>
            <a:endParaRPr lang="en-US" sz="2000" b="1" dirty="0">
              <a:latin typeface="Times New Roman" panose="02020603050405020304" pitchFamily="18" charset="0"/>
              <a:cs typeface="Times New Roman" panose="02020603050405020304" pitchFamily="18" charset="0"/>
            </a:endParaRPr>
          </a:p>
          <a:p>
            <a:pPr>
              <a:buFont typeface="+mj-lt"/>
              <a:buAutoNum type="arabicPeriod" startAt="6"/>
            </a:pPr>
            <a:r>
              <a:rPr lang="en-US" sz="2000" dirty="0">
                <a:latin typeface="Times New Roman" panose="02020603050405020304" pitchFamily="18" charset="0"/>
                <a:cs typeface="Times New Roman" panose="02020603050405020304" pitchFamily="18" charset="0"/>
              </a:rPr>
              <a:t> Receiver gets Cipher Text + Encrypted Key </a:t>
            </a:r>
          </a:p>
          <a:p>
            <a:pPr>
              <a:buFont typeface="+mj-lt"/>
              <a:buAutoNum type="arabicPeriod" startAt="6"/>
            </a:pPr>
            <a:r>
              <a:rPr lang="en-US" sz="2000" dirty="0">
                <a:latin typeface="Times New Roman" panose="02020603050405020304" pitchFamily="18" charset="0"/>
                <a:cs typeface="Times New Roman" panose="02020603050405020304" pitchFamily="18" charset="0"/>
              </a:rPr>
              <a:t> RSA decrypts the AES key </a:t>
            </a:r>
          </a:p>
          <a:p>
            <a:pPr>
              <a:buFont typeface="+mj-lt"/>
              <a:buAutoNum type="arabicPeriod" startAt="6"/>
            </a:pPr>
            <a:r>
              <a:rPr lang="en-US" sz="2000" dirty="0">
                <a:latin typeface="Times New Roman" panose="02020603050405020304" pitchFamily="18" charset="0"/>
                <a:cs typeface="Times New Roman" panose="02020603050405020304" pitchFamily="18" charset="0"/>
              </a:rPr>
              <a:t> AES decrypts the Cipher Text </a:t>
            </a:r>
          </a:p>
          <a:p>
            <a:pPr>
              <a:buFont typeface="+mj-lt"/>
              <a:buAutoNum type="arabicPeriod" startAt="6"/>
            </a:pPr>
            <a:r>
              <a:rPr lang="en-US" sz="2000" dirty="0">
                <a:latin typeface="Times New Roman" panose="02020603050405020304" pitchFamily="18" charset="0"/>
                <a:cs typeface="Times New Roman" panose="02020603050405020304" pitchFamily="18" charset="0"/>
              </a:rPr>
              <a:t> Original data is recovered</a:t>
            </a:r>
          </a:p>
        </p:txBody>
      </p:sp>
      <p:pic>
        <p:nvPicPr>
          <p:cNvPr id="14" name="Picture 13">
            <a:extLst>
              <a:ext uri="{FF2B5EF4-FFF2-40B4-BE49-F238E27FC236}">
                <a16:creationId xmlns:a16="http://schemas.microsoft.com/office/drawing/2014/main" id="{F701885A-F2A8-5867-1B47-53F8C979F4F6}"/>
              </a:ext>
            </a:extLst>
          </p:cNvPr>
          <p:cNvPicPr>
            <a:picLocks noChangeAspect="1"/>
          </p:cNvPicPr>
          <p:nvPr/>
        </p:nvPicPr>
        <p:blipFill>
          <a:blip r:embed="rId2"/>
          <a:stretch>
            <a:fillRect/>
          </a:stretch>
        </p:blipFill>
        <p:spPr>
          <a:xfrm>
            <a:off x="3053137" y="937657"/>
            <a:ext cx="11170863" cy="5828169"/>
          </a:xfrm>
          <a:prstGeom prst="rect">
            <a:avLst/>
          </a:prstGeom>
        </p:spPr>
      </p:pic>
      <p:sp>
        <p:nvSpPr>
          <p:cNvPr id="5" name="TextBox 4">
            <a:extLst>
              <a:ext uri="{FF2B5EF4-FFF2-40B4-BE49-F238E27FC236}">
                <a16:creationId xmlns:a16="http://schemas.microsoft.com/office/drawing/2014/main" id="{AE50D3FA-C4E7-ADD2-7F4B-78B0D5E45C91}"/>
              </a:ext>
            </a:extLst>
          </p:cNvPr>
          <p:cNvSpPr txBox="1"/>
          <p:nvPr/>
        </p:nvSpPr>
        <p:spPr>
          <a:xfrm>
            <a:off x="6781800" y="6712555"/>
            <a:ext cx="33528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Figure 1 : </a:t>
            </a:r>
            <a:r>
              <a:rPr lang="en-US" dirty="0">
                <a:latin typeface="Times New Roman" panose="02020603050405020304" pitchFamily="18" charset="0"/>
                <a:cs typeface="Times New Roman" panose="02020603050405020304" pitchFamily="18" charset="0"/>
              </a:rPr>
              <a:t>System Architecture </a:t>
            </a:r>
            <a:endParaRPr lang="en-US" dirty="0"/>
          </a:p>
        </p:txBody>
      </p:sp>
    </p:spTree>
    <p:extLst>
      <p:ext uri="{BB962C8B-B14F-4D97-AF65-F5344CB8AC3E}">
        <p14:creationId xmlns:p14="http://schemas.microsoft.com/office/powerpoint/2010/main" val="1109281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1FF"/>
        </a:solidFill>
        <a:effectLst/>
      </p:bgPr>
    </p:bg>
    <p:spTree>
      <p:nvGrpSpPr>
        <p:cNvPr id="1" name=""/>
        <p:cNvGrpSpPr/>
        <p:nvPr/>
      </p:nvGrpSpPr>
      <p:grpSpPr>
        <a:xfrm>
          <a:off x="0" y="0"/>
          <a:ext cx="0" cy="0"/>
          <a:chOff x="0" y="0"/>
          <a:chExt cx="0" cy="0"/>
        </a:xfrm>
      </p:grpSpPr>
      <p:sp>
        <p:nvSpPr>
          <p:cNvPr id="5" name="TextBox 5"/>
          <p:cNvSpPr txBox="1"/>
          <p:nvPr/>
        </p:nvSpPr>
        <p:spPr>
          <a:xfrm>
            <a:off x="1291828" y="993877"/>
            <a:ext cx="6820663" cy="756682"/>
          </a:xfrm>
          <a:prstGeom prst="rect">
            <a:avLst/>
          </a:prstGeom>
        </p:spPr>
        <p:txBody>
          <a:bodyPr lIns="0" tIns="0" rIns="0" bIns="0" rtlCol="0" anchor="t">
            <a:spAutoFit/>
          </a:bodyPr>
          <a:lstStyle/>
          <a:p>
            <a:pPr algn="l">
              <a:lnSpc>
                <a:spcPts val="6528"/>
              </a:lnSpc>
            </a:pPr>
            <a:r>
              <a:rPr lang="en-US" sz="4000" b="1" dirty="0">
                <a:solidFill>
                  <a:srgbClr val="00002E"/>
                </a:solidFill>
                <a:latin typeface="Times New Roman" panose="02020603050405020304" pitchFamily="18" charset="0"/>
                <a:ea typeface="Times New Roman"/>
                <a:cs typeface="Times New Roman" panose="02020603050405020304" pitchFamily="18" charset="0"/>
                <a:sym typeface="Times New Roman"/>
              </a:rPr>
              <a:t>Tools &amp; Technologies Used :</a:t>
            </a:r>
          </a:p>
        </p:txBody>
      </p:sp>
      <p:sp>
        <p:nvSpPr>
          <p:cNvPr id="6" name="TextBox 6"/>
          <p:cNvSpPr txBox="1"/>
          <p:nvPr/>
        </p:nvSpPr>
        <p:spPr>
          <a:xfrm>
            <a:off x="1291828" y="2297316"/>
            <a:ext cx="15704191" cy="446725"/>
          </a:xfrm>
          <a:prstGeom prst="rect">
            <a:avLst/>
          </a:prstGeom>
        </p:spPr>
        <p:txBody>
          <a:bodyPr lIns="0" tIns="0" rIns="0" bIns="0" rtlCol="0" anchor="t">
            <a:spAutoFit/>
          </a:bodyPr>
          <a:lstStyle/>
          <a:p>
            <a:pPr algn="l">
              <a:lnSpc>
                <a:spcPts val="3974"/>
              </a:lnSpc>
            </a:pPr>
            <a:r>
              <a:rPr lang="en-US" sz="2062" dirty="0">
                <a:solidFill>
                  <a:srgbClr val="00002E"/>
                </a:solidFill>
                <a:latin typeface="Times New Roman" panose="02020603050405020304" pitchFamily="18" charset="0"/>
                <a:ea typeface="Times New Roman"/>
                <a:cs typeface="Times New Roman" panose="02020603050405020304" pitchFamily="18" charset="0"/>
                <a:sym typeface="Times New Roman"/>
              </a:rPr>
              <a:t>The implementation and analysis of the proposed cryptographic system are carried out using a carefully selected set of software tools .</a:t>
            </a:r>
          </a:p>
        </p:txBody>
      </p:sp>
      <p:sp>
        <p:nvSpPr>
          <p:cNvPr id="7" name="TextBox 7"/>
          <p:cNvSpPr txBox="1"/>
          <p:nvPr/>
        </p:nvSpPr>
        <p:spPr>
          <a:xfrm>
            <a:off x="1332690" y="4213327"/>
            <a:ext cx="4282126" cy="419474"/>
          </a:xfrm>
          <a:prstGeom prst="rect">
            <a:avLst/>
          </a:prstGeom>
        </p:spPr>
        <p:txBody>
          <a:bodyPr lIns="0" tIns="0" rIns="0" bIns="0" rtlCol="0" anchor="t">
            <a:spAutoFit/>
          </a:bodyPr>
          <a:lstStyle/>
          <a:p>
            <a:pPr algn="l">
              <a:lnSpc>
                <a:spcPts val="3599"/>
              </a:lnSpc>
            </a:pPr>
            <a:r>
              <a:rPr lang="en-US" sz="2437"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Python</a:t>
            </a:r>
          </a:p>
        </p:txBody>
      </p:sp>
      <p:sp>
        <p:nvSpPr>
          <p:cNvPr id="8" name="TextBox 8"/>
          <p:cNvSpPr txBox="1"/>
          <p:nvPr/>
        </p:nvSpPr>
        <p:spPr>
          <a:xfrm>
            <a:off x="1332690" y="4683176"/>
            <a:ext cx="6919503" cy="996525"/>
          </a:xfrm>
          <a:prstGeom prst="rect">
            <a:avLst/>
          </a:prstGeom>
        </p:spPr>
        <p:txBody>
          <a:bodyPr lIns="0" tIns="0" rIns="0" bIns="0" rtlCol="0" anchor="t">
            <a:spAutoFit/>
          </a:bodyPr>
          <a:lstStyle/>
          <a:p>
            <a:pPr algn="l">
              <a:lnSpc>
                <a:spcPts val="3974"/>
              </a:lnSpc>
            </a:pPr>
            <a:r>
              <a:rPr lang="en-US" sz="2062" dirty="0">
                <a:solidFill>
                  <a:srgbClr val="00002E"/>
                </a:solidFill>
                <a:latin typeface="Times New Roman" panose="02020603050405020304" pitchFamily="18" charset="0"/>
                <a:ea typeface="Times New Roman"/>
                <a:cs typeface="Times New Roman" panose="02020603050405020304" pitchFamily="18" charset="0"/>
                <a:sym typeface="Times New Roman"/>
              </a:rPr>
              <a:t>Primary programming language for implementing AES and hybrid encryption algorithms. </a:t>
            </a:r>
          </a:p>
        </p:txBody>
      </p:sp>
      <p:sp>
        <p:nvSpPr>
          <p:cNvPr id="9" name="TextBox 9"/>
          <p:cNvSpPr txBox="1"/>
          <p:nvPr/>
        </p:nvSpPr>
        <p:spPr>
          <a:xfrm>
            <a:off x="8707136" y="4213327"/>
            <a:ext cx="4282126" cy="419474"/>
          </a:xfrm>
          <a:prstGeom prst="rect">
            <a:avLst/>
          </a:prstGeom>
        </p:spPr>
        <p:txBody>
          <a:bodyPr lIns="0" tIns="0" rIns="0" bIns="0" rtlCol="0" anchor="t">
            <a:spAutoFit/>
          </a:bodyPr>
          <a:lstStyle/>
          <a:p>
            <a:pPr algn="l">
              <a:lnSpc>
                <a:spcPts val="3599"/>
              </a:lnSpc>
            </a:pPr>
            <a:r>
              <a:rPr lang="en-US" sz="2437"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Crypto Libraries</a:t>
            </a:r>
          </a:p>
        </p:txBody>
      </p:sp>
      <p:sp>
        <p:nvSpPr>
          <p:cNvPr id="10" name="TextBox 10"/>
          <p:cNvSpPr txBox="1"/>
          <p:nvPr/>
        </p:nvSpPr>
        <p:spPr>
          <a:xfrm>
            <a:off x="8707136" y="4683176"/>
            <a:ext cx="6919503" cy="446725"/>
          </a:xfrm>
          <a:prstGeom prst="rect">
            <a:avLst/>
          </a:prstGeom>
        </p:spPr>
        <p:txBody>
          <a:bodyPr lIns="0" tIns="0" rIns="0" bIns="0" rtlCol="0" anchor="t">
            <a:spAutoFit/>
          </a:bodyPr>
          <a:lstStyle/>
          <a:p>
            <a:pPr algn="l">
              <a:lnSpc>
                <a:spcPts val="3974"/>
              </a:lnSpc>
            </a:pPr>
            <a:r>
              <a:rPr lang="en-US" sz="2062" dirty="0">
                <a:solidFill>
                  <a:srgbClr val="00002E"/>
                </a:solidFill>
                <a:latin typeface="Times New Roman" panose="02020603050405020304" pitchFamily="18" charset="0"/>
                <a:ea typeface="Times New Roman"/>
                <a:cs typeface="Times New Roman" panose="02020603050405020304" pitchFamily="18" charset="0"/>
                <a:sym typeface="Times New Roman"/>
              </a:rPr>
              <a:t>Used to implement secure encryption and decryption operations.</a:t>
            </a:r>
          </a:p>
        </p:txBody>
      </p:sp>
      <p:sp>
        <p:nvSpPr>
          <p:cNvPr id="11" name="TextBox 11"/>
          <p:cNvSpPr txBox="1"/>
          <p:nvPr/>
        </p:nvSpPr>
        <p:spPr>
          <a:xfrm>
            <a:off x="1332690" y="7693209"/>
            <a:ext cx="4282126" cy="419474"/>
          </a:xfrm>
          <a:prstGeom prst="rect">
            <a:avLst/>
          </a:prstGeom>
        </p:spPr>
        <p:txBody>
          <a:bodyPr lIns="0" tIns="0" rIns="0" bIns="0" rtlCol="0" anchor="t">
            <a:spAutoFit/>
          </a:bodyPr>
          <a:lstStyle/>
          <a:p>
            <a:pPr algn="l">
              <a:lnSpc>
                <a:spcPts val="3599"/>
              </a:lnSpc>
            </a:pPr>
            <a:r>
              <a:rPr lang="en-US" sz="2437" dirty="0">
                <a:solidFill>
                  <a:srgbClr val="00002E"/>
                </a:solidFill>
                <a:latin typeface="Times New Roman" panose="02020603050405020304" pitchFamily="18" charset="0"/>
                <a:ea typeface="Nunito"/>
                <a:cs typeface="Times New Roman" panose="02020603050405020304" pitchFamily="18" charset="0"/>
                <a:sym typeface="Nunito"/>
              </a:rPr>
              <a:t>Visualization</a:t>
            </a:r>
          </a:p>
        </p:txBody>
      </p:sp>
      <p:sp>
        <p:nvSpPr>
          <p:cNvPr id="12" name="TextBox 12"/>
          <p:cNvSpPr txBox="1"/>
          <p:nvPr/>
        </p:nvSpPr>
        <p:spPr>
          <a:xfrm>
            <a:off x="1332690" y="8153533"/>
            <a:ext cx="6919503" cy="446725"/>
          </a:xfrm>
          <a:prstGeom prst="rect">
            <a:avLst/>
          </a:prstGeom>
        </p:spPr>
        <p:txBody>
          <a:bodyPr lIns="0" tIns="0" rIns="0" bIns="0" rtlCol="0" anchor="t">
            <a:spAutoFit/>
          </a:bodyPr>
          <a:lstStyle/>
          <a:p>
            <a:pPr algn="l">
              <a:lnSpc>
                <a:spcPts val="3974"/>
              </a:lnSpc>
            </a:pPr>
            <a:r>
              <a:rPr lang="en-US" sz="2062" dirty="0">
                <a:solidFill>
                  <a:srgbClr val="00002E"/>
                </a:solidFill>
                <a:latin typeface="Times New Roman" panose="02020603050405020304" pitchFamily="18" charset="0"/>
                <a:ea typeface="PT Sans"/>
                <a:cs typeface="Times New Roman" panose="02020603050405020304" pitchFamily="18" charset="0"/>
                <a:sym typeface="PT Sans"/>
              </a:rPr>
              <a:t>Tools for generating clear performance comparisons..</a:t>
            </a:r>
          </a:p>
        </p:txBody>
      </p:sp>
      <p:sp>
        <p:nvSpPr>
          <p:cNvPr id="13" name="TextBox 13"/>
          <p:cNvSpPr txBox="1"/>
          <p:nvPr/>
        </p:nvSpPr>
        <p:spPr>
          <a:xfrm>
            <a:off x="8707136" y="7693209"/>
            <a:ext cx="4282126" cy="419474"/>
          </a:xfrm>
          <a:prstGeom prst="rect">
            <a:avLst/>
          </a:prstGeom>
        </p:spPr>
        <p:txBody>
          <a:bodyPr lIns="0" tIns="0" rIns="0" bIns="0" rtlCol="0" anchor="t">
            <a:spAutoFit/>
          </a:bodyPr>
          <a:lstStyle/>
          <a:p>
            <a:pPr algn="l">
              <a:lnSpc>
                <a:spcPts val="3599"/>
              </a:lnSpc>
            </a:pPr>
            <a:r>
              <a:rPr lang="en-US" sz="2437" dirty="0">
                <a:solidFill>
                  <a:srgbClr val="00002E"/>
                </a:solidFill>
                <a:latin typeface="Times New Roman" panose="02020603050405020304" pitchFamily="18" charset="0"/>
                <a:ea typeface="Nunito"/>
                <a:cs typeface="Times New Roman" panose="02020603050405020304" pitchFamily="18" charset="0"/>
                <a:sym typeface="Nunito"/>
              </a:rPr>
              <a:t>CPU Environment</a:t>
            </a:r>
          </a:p>
        </p:txBody>
      </p:sp>
      <p:sp>
        <p:nvSpPr>
          <p:cNvPr id="14" name="TextBox 14"/>
          <p:cNvSpPr txBox="1"/>
          <p:nvPr/>
        </p:nvSpPr>
        <p:spPr>
          <a:xfrm>
            <a:off x="8707136" y="8153533"/>
            <a:ext cx="8895064" cy="446725"/>
          </a:xfrm>
          <a:prstGeom prst="rect">
            <a:avLst/>
          </a:prstGeom>
        </p:spPr>
        <p:txBody>
          <a:bodyPr wrap="square" lIns="0" tIns="0" rIns="0" bIns="0" rtlCol="0" anchor="t">
            <a:spAutoFit/>
          </a:bodyPr>
          <a:lstStyle/>
          <a:p>
            <a:pPr algn="l">
              <a:lnSpc>
                <a:spcPts val="3974"/>
              </a:lnSpc>
            </a:pPr>
            <a:r>
              <a:rPr lang="en-US" sz="2062" dirty="0">
                <a:solidFill>
                  <a:srgbClr val="00002E"/>
                </a:solidFill>
                <a:latin typeface="Times New Roman" panose="02020603050405020304" pitchFamily="18" charset="0"/>
                <a:ea typeface="PT Sans"/>
                <a:cs typeface="Times New Roman" panose="02020603050405020304" pitchFamily="18" charset="0"/>
                <a:sym typeface="PT Sans"/>
              </a:rPr>
              <a:t>Ensuring consistent, reproducible results in a standard CPU execution environment.</a:t>
            </a:r>
          </a:p>
        </p:txBody>
      </p:sp>
      <p:sp>
        <p:nvSpPr>
          <p:cNvPr id="15" name="TextBox 15"/>
          <p:cNvSpPr txBox="1"/>
          <p:nvPr/>
        </p:nvSpPr>
        <p:spPr>
          <a:xfrm>
            <a:off x="1275683" y="3757212"/>
            <a:ext cx="1702651" cy="313547"/>
          </a:xfrm>
          <a:prstGeom prst="rect">
            <a:avLst/>
          </a:prstGeom>
        </p:spPr>
        <p:txBody>
          <a:bodyPr lIns="0" tIns="0" rIns="0" bIns="0" rtlCol="0" anchor="t">
            <a:spAutoFit/>
          </a:bodyPr>
          <a:lstStyle/>
          <a:p>
            <a:pPr algn="l">
              <a:lnSpc>
                <a:spcPts val="2550"/>
              </a:lnSpc>
            </a:pPr>
            <a:r>
              <a:rPr lang="en-US" sz="2125" dirty="0">
                <a:solidFill>
                  <a:srgbClr val="000000"/>
                </a:solidFill>
                <a:latin typeface="Times New Roman" panose="02020603050405020304" pitchFamily="18" charset="0"/>
                <a:ea typeface="Arial"/>
                <a:cs typeface="Times New Roman" panose="02020603050405020304" pitchFamily="18" charset="0"/>
                <a:sym typeface="Arial"/>
              </a:rPr>
              <a:t>🐍</a:t>
            </a:r>
          </a:p>
        </p:txBody>
      </p:sp>
      <p:sp>
        <p:nvSpPr>
          <p:cNvPr id="16" name="TextBox 16"/>
          <p:cNvSpPr txBox="1"/>
          <p:nvPr/>
        </p:nvSpPr>
        <p:spPr>
          <a:xfrm>
            <a:off x="8595093" y="3786092"/>
            <a:ext cx="3665401" cy="313547"/>
          </a:xfrm>
          <a:prstGeom prst="rect">
            <a:avLst/>
          </a:prstGeom>
        </p:spPr>
        <p:txBody>
          <a:bodyPr lIns="0" tIns="0" rIns="0" bIns="0" rtlCol="0" anchor="t">
            <a:spAutoFit/>
          </a:bodyPr>
          <a:lstStyle/>
          <a:p>
            <a:pPr algn="l">
              <a:lnSpc>
                <a:spcPts val="2550"/>
              </a:lnSpc>
            </a:pPr>
            <a:r>
              <a:rPr lang="en-US" sz="2125" dirty="0">
                <a:solidFill>
                  <a:srgbClr val="000000"/>
                </a:solidFill>
                <a:latin typeface="Times New Roman" panose="02020603050405020304" pitchFamily="18" charset="0"/>
                <a:ea typeface="Arial"/>
                <a:cs typeface="Times New Roman" panose="02020603050405020304" pitchFamily="18" charset="0"/>
                <a:sym typeface="Arial"/>
              </a:rPr>
              <a:t>🔐</a:t>
            </a:r>
          </a:p>
        </p:txBody>
      </p:sp>
      <p:sp>
        <p:nvSpPr>
          <p:cNvPr id="17" name="TextBox 17"/>
          <p:cNvSpPr txBox="1"/>
          <p:nvPr/>
        </p:nvSpPr>
        <p:spPr>
          <a:xfrm>
            <a:off x="1275674" y="7126672"/>
            <a:ext cx="4991395" cy="313547"/>
          </a:xfrm>
          <a:prstGeom prst="rect">
            <a:avLst/>
          </a:prstGeom>
        </p:spPr>
        <p:txBody>
          <a:bodyPr lIns="0" tIns="0" rIns="0" bIns="0" rtlCol="0" anchor="t">
            <a:spAutoFit/>
          </a:bodyPr>
          <a:lstStyle/>
          <a:p>
            <a:pPr algn="l">
              <a:lnSpc>
                <a:spcPts val="2550"/>
              </a:lnSpc>
            </a:pPr>
            <a:r>
              <a:rPr lang="en-US" sz="2125" dirty="0">
                <a:solidFill>
                  <a:srgbClr val="000000"/>
                </a:solidFill>
                <a:latin typeface="Times New Roman" panose="02020603050405020304" pitchFamily="18" charset="0"/>
                <a:ea typeface="Arial"/>
                <a:cs typeface="Times New Roman" panose="02020603050405020304" pitchFamily="18" charset="0"/>
                <a:sym typeface="Arial"/>
              </a:rPr>
              <a:t>📈</a:t>
            </a:r>
          </a:p>
        </p:txBody>
      </p:sp>
      <p:sp>
        <p:nvSpPr>
          <p:cNvPr id="18" name="TextBox 18"/>
          <p:cNvSpPr txBox="1"/>
          <p:nvPr/>
        </p:nvSpPr>
        <p:spPr>
          <a:xfrm>
            <a:off x="8595093" y="7274262"/>
            <a:ext cx="4991395" cy="313547"/>
          </a:xfrm>
          <a:prstGeom prst="rect">
            <a:avLst/>
          </a:prstGeom>
        </p:spPr>
        <p:txBody>
          <a:bodyPr lIns="0" tIns="0" rIns="0" bIns="0" rtlCol="0" anchor="t">
            <a:spAutoFit/>
          </a:bodyPr>
          <a:lstStyle/>
          <a:p>
            <a:pPr algn="l">
              <a:lnSpc>
                <a:spcPts val="2550"/>
              </a:lnSpc>
            </a:pPr>
            <a:r>
              <a:rPr lang="en-US" sz="2125" dirty="0">
                <a:solidFill>
                  <a:srgbClr val="000000"/>
                </a:solidFill>
                <a:latin typeface="Times New Roman" panose="02020603050405020304" pitchFamily="18" charset="0"/>
                <a:ea typeface="Arial"/>
                <a:cs typeface="Times New Roman" panose="02020603050405020304" pitchFamily="18" charset="0"/>
                <a:sym typeface="Arial"/>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B023FC3-666A-B13F-9CB9-2DB0BE0682CA}"/>
              </a:ext>
            </a:extLst>
          </p:cNvPr>
          <p:cNvSpPr txBox="1"/>
          <p:nvPr/>
        </p:nvSpPr>
        <p:spPr>
          <a:xfrm>
            <a:off x="12700" y="-942218"/>
            <a:ext cx="18288000" cy="3416320"/>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 </a:t>
            </a:r>
          </a:p>
          <a:p>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Methodology  :</a:t>
            </a:r>
            <a:endParaRPr lang="en-US" sz="4000" b="1" dirty="0">
              <a:solidFill>
                <a:srgbClr val="0070C0"/>
              </a:solidFill>
              <a:latin typeface="Times New Roman" panose="02020603050405020304" pitchFamily="18" charset="0"/>
              <a:cs typeface="Times New Roman" panose="02020603050405020304" pitchFamily="18" charset="0"/>
            </a:endParaRPr>
          </a:p>
          <a:p>
            <a:endParaRPr lang="en-US" sz="4000" b="1" dirty="0">
              <a:latin typeface="Times New Roman" panose="02020603050405020304" pitchFamily="18" charset="0"/>
              <a:cs typeface="Times New Roman" panose="02020603050405020304" pitchFamily="18" charset="0"/>
            </a:endParaRPr>
          </a:p>
          <a:p>
            <a:r>
              <a:rPr lang="en-US" sz="4000" b="1" dirty="0">
                <a:latin typeface="Times New Roman" panose="02020603050405020304" pitchFamily="18" charset="0"/>
                <a:cs typeface="Times New Roman" panose="02020603050405020304" pitchFamily="18" charset="0"/>
              </a:rPr>
              <a:t>                                                              </a:t>
            </a:r>
            <a:endParaRPr lang="en-US" sz="32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3454EC1-E90B-5236-13A7-1D736C1D91C7}"/>
              </a:ext>
            </a:extLst>
          </p:cNvPr>
          <p:cNvPicPr>
            <a:picLocks noChangeAspect="1"/>
          </p:cNvPicPr>
          <p:nvPr/>
        </p:nvPicPr>
        <p:blipFill>
          <a:blip r:embed="rId2"/>
          <a:stretch>
            <a:fillRect/>
          </a:stretch>
        </p:blipFill>
        <p:spPr>
          <a:xfrm>
            <a:off x="4572000" y="1257300"/>
            <a:ext cx="8796887" cy="7273158"/>
          </a:xfrm>
          <a:prstGeom prst="rect">
            <a:avLst/>
          </a:prstGeom>
        </p:spPr>
      </p:pic>
      <p:sp>
        <p:nvSpPr>
          <p:cNvPr id="8" name="TextBox 7">
            <a:extLst>
              <a:ext uri="{FF2B5EF4-FFF2-40B4-BE49-F238E27FC236}">
                <a16:creationId xmlns:a16="http://schemas.microsoft.com/office/drawing/2014/main" id="{91B33029-37AD-C5AB-5705-2835D0DE06A2}"/>
              </a:ext>
            </a:extLst>
          </p:cNvPr>
          <p:cNvSpPr txBox="1"/>
          <p:nvPr/>
        </p:nvSpPr>
        <p:spPr>
          <a:xfrm>
            <a:off x="5943600" y="9029700"/>
            <a:ext cx="5562600" cy="461665"/>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Figure-2: Working Flow of Methodology</a:t>
            </a:r>
          </a:p>
        </p:txBody>
      </p:sp>
    </p:spTree>
    <p:extLst>
      <p:ext uri="{BB962C8B-B14F-4D97-AF65-F5344CB8AC3E}">
        <p14:creationId xmlns:p14="http://schemas.microsoft.com/office/powerpoint/2010/main" val="871188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85DA13-20DF-A0F2-DDD8-40DF3749617E}"/>
              </a:ext>
            </a:extLst>
          </p:cNvPr>
          <p:cNvSpPr txBox="1"/>
          <p:nvPr/>
        </p:nvSpPr>
        <p:spPr>
          <a:xfrm>
            <a:off x="838200" y="666367"/>
            <a:ext cx="12974391" cy="1077218"/>
          </a:xfrm>
          <a:prstGeom prst="rect">
            <a:avLst/>
          </a:prstGeom>
          <a:noFill/>
        </p:spPr>
        <p:txBody>
          <a:bodyPr wrap="square">
            <a:spAutoFit/>
          </a:bodyPr>
          <a:lstStyle/>
          <a:p>
            <a:endParaRPr lang="en-US" sz="32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Implementation :</a:t>
            </a:r>
          </a:p>
        </p:txBody>
      </p:sp>
      <p:sp>
        <p:nvSpPr>
          <p:cNvPr id="4" name="Rectangle 1">
            <a:extLst>
              <a:ext uri="{FF2B5EF4-FFF2-40B4-BE49-F238E27FC236}">
                <a16:creationId xmlns:a16="http://schemas.microsoft.com/office/drawing/2014/main" id="{044F1A69-C621-3DA3-01D2-EFD2DF5169D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71E4EDAE-9ABF-5AFC-E9BC-28A6641E3487}"/>
              </a:ext>
            </a:extLst>
          </p:cNvPr>
          <p:cNvSpPr txBox="1"/>
          <p:nvPr/>
        </p:nvSpPr>
        <p:spPr>
          <a:xfrm>
            <a:off x="876300" y="2095500"/>
            <a:ext cx="14173200" cy="7848302"/>
          </a:xfrm>
          <a:prstGeom prst="rect">
            <a:avLst/>
          </a:prstGeom>
          <a:noFill/>
        </p:spPr>
        <p:txBody>
          <a:bodyPr wrap="square" rtlCol="0">
            <a:spAutoFit/>
          </a:bodyPr>
          <a:lstStyle/>
          <a:p>
            <a:pPr lvl="0" eaLnBrk="0" fontAlgn="base" hangingPunct="0">
              <a:spcBef>
                <a:spcPct val="0"/>
              </a:spcBef>
              <a:spcAft>
                <a:spcPct val="0"/>
              </a:spcAft>
            </a:pPr>
            <a:endParaRPr lang="en-US" altLang="en-US" sz="28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   The system is developed as a web-based application using Django</a:t>
            </a:r>
          </a:p>
          <a:p>
            <a:pPr lvl="0" algn="just" eaLnBrk="0" fontAlgn="base" hangingPunct="0">
              <a:spcBef>
                <a:spcPct val="0"/>
              </a:spcBef>
              <a:spcAft>
                <a:spcPct val="0"/>
              </a:spcAft>
            </a:pPr>
            <a:r>
              <a:rPr lang="en-US" altLang="en-US" sz="2800" dirty="0">
                <a:latin typeface="Times New Roman" panose="02020603050405020304" pitchFamily="18" charset="0"/>
                <a:cs typeface="Times New Roman" panose="02020603050405020304" pitchFamily="18" charset="0"/>
              </a:rPr>
              <a:t> </a:t>
            </a:r>
          </a:p>
          <a:p>
            <a:pPr lvl="0" algn="just"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   User provides input data (text/file) through the interface </a:t>
            </a:r>
          </a:p>
          <a:p>
            <a:pPr lvl="0" algn="just" eaLnBrk="0" fontAlgn="base" hangingPunct="0">
              <a:spcBef>
                <a:spcPct val="0"/>
              </a:spcBef>
              <a:spcAft>
                <a:spcPct val="0"/>
              </a:spcAft>
            </a:pPr>
            <a:endParaRPr lang="en-US" altLang="en-US" sz="28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   AES algorithm is used to encrypt the data into cipher text </a:t>
            </a:r>
          </a:p>
          <a:p>
            <a:pPr lvl="0" algn="just" eaLnBrk="0" fontAlgn="base" hangingPunct="0">
              <a:spcBef>
                <a:spcPct val="0"/>
              </a:spcBef>
              <a:spcAft>
                <a:spcPct val="0"/>
              </a:spcAft>
            </a:pPr>
            <a:endParaRPr lang="en-US" altLang="en-US" sz="28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   A dynamic AES key is generated during encryption </a:t>
            </a:r>
          </a:p>
          <a:p>
            <a:pPr lvl="0" algn="just" eaLnBrk="0" fontAlgn="base" hangingPunct="0">
              <a:spcBef>
                <a:spcPct val="0"/>
              </a:spcBef>
              <a:spcAft>
                <a:spcPct val="0"/>
              </a:spcAft>
            </a:pPr>
            <a:endParaRPr lang="en-US" altLang="en-US" sz="28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   RSA algorithm encrypts the AES key for secure transmission </a:t>
            </a:r>
          </a:p>
          <a:p>
            <a:pPr lvl="0" algn="just" eaLnBrk="0" fontAlgn="base" hangingPunct="0">
              <a:spcBef>
                <a:spcPct val="0"/>
              </a:spcBef>
              <a:spcAft>
                <a:spcPct val="0"/>
              </a:spcAft>
            </a:pPr>
            <a:endParaRPr lang="en-US" altLang="en-US" sz="28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   Encrypted data and key are sent securely to the receiver </a:t>
            </a:r>
          </a:p>
          <a:p>
            <a:pPr lvl="0" algn="just" eaLnBrk="0" fontAlgn="base" hangingPunct="0">
              <a:spcBef>
                <a:spcPct val="0"/>
              </a:spcBef>
              <a:spcAft>
                <a:spcPct val="0"/>
              </a:spcAft>
            </a:pPr>
            <a:endParaRPr lang="en-US" altLang="en-US" sz="28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   At the receiver side, RSA decrypts the key and AES decrypts the data</a:t>
            </a:r>
          </a:p>
          <a:p>
            <a:pPr lvl="0" algn="just" eaLnBrk="0" fontAlgn="base" hangingPunct="0">
              <a:spcBef>
                <a:spcPct val="0"/>
              </a:spcBef>
              <a:spcAft>
                <a:spcPct val="0"/>
              </a:spcAft>
            </a:pPr>
            <a:r>
              <a:rPr lang="en-US" altLang="en-US" sz="2800" dirty="0">
                <a:latin typeface="Times New Roman" panose="02020603050405020304" pitchFamily="18" charset="0"/>
                <a:cs typeface="Times New Roman" panose="02020603050405020304" pitchFamily="18" charset="0"/>
              </a:rPr>
              <a:t> </a:t>
            </a:r>
          </a:p>
          <a:p>
            <a:pPr lvl="0" algn="just"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   The system ensures both security and efficient performance </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639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49">
            <a:extLst>
              <a:ext uri="{FF2B5EF4-FFF2-40B4-BE49-F238E27FC236}">
                <a16:creationId xmlns:a16="http://schemas.microsoft.com/office/drawing/2014/main" id="{D86898BF-CC64-C7C4-C44A-089E650F6AC9}"/>
              </a:ext>
            </a:extLst>
          </p:cNvPr>
          <p:cNvPicPr>
            <a:picLocks/>
          </p:cNvPicPr>
          <p:nvPr/>
        </p:nvPicPr>
        <p:blipFill>
          <a:blip r:embed="rId2" cstate="print"/>
          <a:stretch>
            <a:fillRect/>
          </a:stretch>
        </p:blipFill>
        <p:spPr>
          <a:xfrm>
            <a:off x="1905000" y="1268968"/>
            <a:ext cx="14173200" cy="7499866"/>
          </a:xfrm>
          <a:prstGeom prst="rect">
            <a:avLst/>
          </a:prstGeom>
        </p:spPr>
      </p:pic>
      <p:sp>
        <p:nvSpPr>
          <p:cNvPr id="8" name="TextBox 7">
            <a:extLst>
              <a:ext uri="{FF2B5EF4-FFF2-40B4-BE49-F238E27FC236}">
                <a16:creationId xmlns:a16="http://schemas.microsoft.com/office/drawing/2014/main" id="{B74BEC35-5E5A-605B-7165-75DDBA1C1061}"/>
              </a:ext>
            </a:extLst>
          </p:cNvPr>
          <p:cNvSpPr txBox="1"/>
          <p:nvPr/>
        </p:nvSpPr>
        <p:spPr>
          <a:xfrm>
            <a:off x="7081520" y="8943082"/>
            <a:ext cx="4124959"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Screenshot</a:t>
            </a:r>
            <a:r>
              <a:rPr lang="en-US" sz="1800" b="1" spc="75" dirty="0">
                <a:effectLst/>
                <a:latin typeface="Times New Roman" panose="02020603050405020304" pitchFamily="18" charset="0"/>
                <a:ea typeface="Times New Roman" panose="02020603050405020304" pitchFamily="18" charset="0"/>
              </a:rPr>
              <a:t> </a:t>
            </a:r>
            <a:r>
              <a:rPr lang="en-US" b="1" spc="75" dirty="0">
                <a:latin typeface="Times New Roman" panose="02020603050405020304" pitchFamily="18" charset="0"/>
                <a:ea typeface="Times New Roman" panose="02020603050405020304" pitchFamily="18" charset="0"/>
              </a:rPr>
              <a:t>1</a:t>
            </a:r>
            <a:r>
              <a:rPr lang="en-US" sz="1800" b="1" spc="8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t>
            </a:r>
            <a:r>
              <a:rPr lang="en-US" sz="1800" b="1" spc="8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Project</a:t>
            </a:r>
            <a:r>
              <a:rPr lang="en-US" sz="1800" b="1" spc="90"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interface</a:t>
            </a:r>
            <a:endParaRPr lang="en-US" dirty="0"/>
          </a:p>
        </p:txBody>
      </p:sp>
      <p:sp>
        <p:nvSpPr>
          <p:cNvPr id="6" name="TextBox 5">
            <a:extLst>
              <a:ext uri="{FF2B5EF4-FFF2-40B4-BE49-F238E27FC236}">
                <a16:creationId xmlns:a16="http://schemas.microsoft.com/office/drawing/2014/main" id="{2890B1C5-F591-FAFF-961B-73D2F2616C7B}"/>
              </a:ext>
            </a:extLst>
          </p:cNvPr>
          <p:cNvSpPr txBox="1"/>
          <p:nvPr/>
        </p:nvSpPr>
        <p:spPr>
          <a:xfrm>
            <a:off x="1752600" y="419100"/>
            <a:ext cx="39624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Results &amp; Output :</a:t>
            </a:r>
          </a:p>
        </p:txBody>
      </p:sp>
    </p:spTree>
    <p:extLst>
      <p:ext uri="{BB962C8B-B14F-4D97-AF65-F5344CB8AC3E}">
        <p14:creationId xmlns:p14="http://schemas.microsoft.com/office/powerpoint/2010/main" val="1846024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50">
            <a:extLst>
              <a:ext uri="{FF2B5EF4-FFF2-40B4-BE49-F238E27FC236}">
                <a16:creationId xmlns:a16="http://schemas.microsoft.com/office/drawing/2014/main" id="{994736C4-343E-FF4A-86E5-93ABAEF74289}"/>
              </a:ext>
            </a:extLst>
          </p:cNvPr>
          <p:cNvPicPr>
            <a:picLocks/>
          </p:cNvPicPr>
          <p:nvPr/>
        </p:nvPicPr>
        <p:blipFill>
          <a:blip r:embed="rId2" cstate="print"/>
          <a:stretch>
            <a:fillRect/>
          </a:stretch>
        </p:blipFill>
        <p:spPr>
          <a:xfrm>
            <a:off x="2057400" y="1257300"/>
            <a:ext cx="14249399" cy="6933168"/>
          </a:xfrm>
          <a:prstGeom prst="rect">
            <a:avLst/>
          </a:prstGeom>
        </p:spPr>
      </p:pic>
      <p:sp>
        <p:nvSpPr>
          <p:cNvPr id="10" name="TextBox 9">
            <a:extLst>
              <a:ext uri="{FF2B5EF4-FFF2-40B4-BE49-F238E27FC236}">
                <a16:creationId xmlns:a16="http://schemas.microsoft.com/office/drawing/2014/main" id="{30A387F3-6514-5ADA-7D74-657D8D391EBA}"/>
              </a:ext>
            </a:extLst>
          </p:cNvPr>
          <p:cNvSpPr txBox="1"/>
          <p:nvPr/>
        </p:nvSpPr>
        <p:spPr>
          <a:xfrm>
            <a:off x="6177278" y="8420100"/>
            <a:ext cx="5933444" cy="369332"/>
          </a:xfrm>
          <a:prstGeom prst="rect">
            <a:avLst/>
          </a:prstGeom>
          <a:noFill/>
        </p:spPr>
        <p:txBody>
          <a:bodyPr wrap="square">
            <a:spAutoFit/>
          </a:bodyPr>
          <a:lstStyle/>
          <a:p>
            <a:pPr marR="132080" algn="ctr">
              <a:spcBef>
                <a:spcPts val="760"/>
              </a:spcBef>
              <a:buNone/>
            </a:pPr>
            <a:r>
              <a:rPr lang="en-US" sz="1800" b="1" dirty="0">
                <a:effectLst/>
                <a:latin typeface="Times New Roman" panose="02020603050405020304" pitchFamily="18" charset="0"/>
                <a:ea typeface="Times New Roman" panose="02020603050405020304" pitchFamily="18" charset="0"/>
              </a:rPr>
              <a:t>Screenshot</a:t>
            </a:r>
            <a:r>
              <a:rPr lang="en-US" sz="1800" b="1" spc="85" dirty="0">
                <a:effectLst/>
                <a:latin typeface="Times New Roman" panose="02020603050405020304" pitchFamily="18" charset="0"/>
                <a:ea typeface="Times New Roman" panose="02020603050405020304" pitchFamily="18" charset="0"/>
              </a:rPr>
              <a:t> </a:t>
            </a:r>
            <a:r>
              <a:rPr lang="en-US" b="1" spc="85" dirty="0">
                <a:latin typeface="Times New Roman" panose="02020603050405020304" pitchFamily="18" charset="0"/>
                <a:ea typeface="Times New Roman" panose="02020603050405020304" pitchFamily="18" charset="0"/>
              </a:rPr>
              <a:t>2</a:t>
            </a:r>
            <a:r>
              <a:rPr lang="en-US" sz="1800" b="1" spc="1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t>
            </a:r>
            <a:r>
              <a:rPr lang="en-US" sz="1800" b="1" spc="9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Encryption</a:t>
            </a:r>
            <a:r>
              <a:rPr lang="en-US" sz="1800" b="1" spc="100"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interface</a:t>
            </a:r>
            <a:endParaRPr lang="en-US" sz="1600" dirty="0">
              <a:effectLst/>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6E4C3062-1497-7D48-8CDD-C6C975295622}"/>
              </a:ext>
            </a:extLst>
          </p:cNvPr>
          <p:cNvSpPr txBox="1"/>
          <p:nvPr/>
        </p:nvSpPr>
        <p:spPr>
          <a:xfrm>
            <a:off x="2044700" y="437287"/>
            <a:ext cx="9144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Results &amp; Output :</a:t>
            </a:r>
          </a:p>
        </p:txBody>
      </p:sp>
    </p:spTree>
    <p:extLst>
      <p:ext uri="{BB962C8B-B14F-4D97-AF65-F5344CB8AC3E}">
        <p14:creationId xmlns:p14="http://schemas.microsoft.com/office/powerpoint/2010/main" val="1237973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152">
            <a:extLst>
              <a:ext uri="{FF2B5EF4-FFF2-40B4-BE49-F238E27FC236}">
                <a16:creationId xmlns:a16="http://schemas.microsoft.com/office/drawing/2014/main" id="{AA10BB4C-DF95-0AA8-0FC4-D34629E10945}"/>
              </a:ext>
            </a:extLst>
          </p:cNvPr>
          <p:cNvPicPr>
            <a:picLocks/>
          </p:cNvPicPr>
          <p:nvPr/>
        </p:nvPicPr>
        <p:blipFill>
          <a:blip r:embed="rId2" cstate="print"/>
          <a:stretch>
            <a:fillRect/>
          </a:stretch>
        </p:blipFill>
        <p:spPr>
          <a:xfrm>
            <a:off x="1905000" y="1154668"/>
            <a:ext cx="14306550" cy="7239000"/>
          </a:xfrm>
          <a:prstGeom prst="rect">
            <a:avLst/>
          </a:prstGeom>
        </p:spPr>
      </p:pic>
      <p:sp>
        <p:nvSpPr>
          <p:cNvPr id="3" name="TextBox 2">
            <a:extLst>
              <a:ext uri="{FF2B5EF4-FFF2-40B4-BE49-F238E27FC236}">
                <a16:creationId xmlns:a16="http://schemas.microsoft.com/office/drawing/2014/main" id="{147EC243-6BA0-81B7-D62A-4F06A1FFB9CC}"/>
              </a:ext>
            </a:extLst>
          </p:cNvPr>
          <p:cNvSpPr txBox="1"/>
          <p:nvPr/>
        </p:nvSpPr>
        <p:spPr>
          <a:xfrm>
            <a:off x="7467600" y="8724900"/>
            <a:ext cx="38862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Screenshot</a:t>
            </a:r>
            <a:r>
              <a:rPr lang="en-US" sz="1800" b="1" spc="85" dirty="0">
                <a:effectLst/>
                <a:latin typeface="Times New Roman" panose="02020603050405020304" pitchFamily="18" charset="0"/>
                <a:ea typeface="Times New Roman" panose="02020603050405020304" pitchFamily="18" charset="0"/>
              </a:rPr>
              <a:t> </a:t>
            </a:r>
            <a:r>
              <a:rPr lang="en-US" b="1" spc="85" dirty="0">
                <a:latin typeface="Times New Roman" panose="02020603050405020304" pitchFamily="18" charset="0"/>
                <a:ea typeface="Times New Roman" panose="02020603050405020304" pitchFamily="18" charset="0"/>
              </a:rPr>
              <a:t>3</a:t>
            </a:r>
            <a:r>
              <a:rPr lang="en-US" sz="1800" b="1" spc="1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t>
            </a:r>
            <a:r>
              <a:rPr lang="en-US" sz="1800" b="1" spc="9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Decryption</a:t>
            </a:r>
            <a:r>
              <a:rPr lang="en-US" sz="1800" b="1" spc="100" dirty="0">
                <a:effectLst/>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Interface</a:t>
            </a:r>
            <a:endParaRPr lang="en-US" dirty="0"/>
          </a:p>
        </p:txBody>
      </p:sp>
      <p:sp>
        <p:nvSpPr>
          <p:cNvPr id="5" name="TextBox 4">
            <a:extLst>
              <a:ext uri="{FF2B5EF4-FFF2-40B4-BE49-F238E27FC236}">
                <a16:creationId xmlns:a16="http://schemas.microsoft.com/office/drawing/2014/main" id="{47B84135-E6AF-6049-9BE6-8C99B664424A}"/>
              </a:ext>
            </a:extLst>
          </p:cNvPr>
          <p:cNvSpPr txBox="1"/>
          <p:nvPr/>
        </p:nvSpPr>
        <p:spPr>
          <a:xfrm>
            <a:off x="1752600" y="361771"/>
            <a:ext cx="9144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Results &amp; Output :</a:t>
            </a:r>
          </a:p>
        </p:txBody>
      </p:sp>
    </p:spTree>
    <p:extLst>
      <p:ext uri="{BB962C8B-B14F-4D97-AF65-F5344CB8AC3E}">
        <p14:creationId xmlns:p14="http://schemas.microsoft.com/office/powerpoint/2010/main" val="3407810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3BC5574-D4BD-A134-EF68-9B30F20B7F0C}"/>
              </a:ext>
            </a:extLst>
          </p:cNvPr>
          <p:cNvGraphicFramePr>
            <a:graphicFrameLocks noGrp="1"/>
          </p:cNvGraphicFramePr>
          <p:nvPr>
            <p:extLst>
              <p:ext uri="{D42A27DB-BD31-4B8C-83A1-F6EECF244321}">
                <p14:modId xmlns:p14="http://schemas.microsoft.com/office/powerpoint/2010/main" val="2941859238"/>
              </p:ext>
            </p:extLst>
          </p:nvPr>
        </p:nvGraphicFramePr>
        <p:xfrm>
          <a:off x="2514600" y="2324100"/>
          <a:ext cx="11963401" cy="4495800"/>
        </p:xfrm>
        <a:graphic>
          <a:graphicData uri="http://schemas.openxmlformats.org/drawingml/2006/table">
            <a:tbl>
              <a:tblPr/>
              <a:tblGrid>
                <a:gridCol w="2495356">
                  <a:extLst>
                    <a:ext uri="{9D8B030D-6E8A-4147-A177-3AD203B41FA5}">
                      <a16:colId xmlns:a16="http://schemas.microsoft.com/office/drawing/2014/main" val="3959720354"/>
                    </a:ext>
                  </a:extLst>
                </a:gridCol>
                <a:gridCol w="3156015">
                  <a:extLst>
                    <a:ext uri="{9D8B030D-6E8A-4147-A177-3AD203B41FA5}">
                      <a16:colId xmlns:a16="http://schemas.microsoft.com/office/drawing/2014/main" val="2135387054"/>
                    </a:ext>
                  </a:extLst>
                </a:gridCol>
                <a:gridCol w="3156015">
                  <a:extLst>
                    <a:ext uri="{9D8B030D-6E8A-4147-A177-3AD203B41FA5}">
                      <a16:colId xmlns:a16="http://schemas.microsoft.com/office/drawing/2014/main" val="2581128382"/>
                    </a:ext>
                  </a:extLst>
                </a:gridCol>
                <a:gridCol w="3156015">
                  <a:extLst>
                    <a:ext uri="{9D8B030D-6E8A-4147-A177-3AD203B41FA5}">
                      <a16:colId xmlns:a16="http://schemas.microsoft.com/office/drawing/2014/main" val="1323304363"/>
                    </a:ext>
                  </a:extLst>
                </a:gridCol>
              </a:tblGrid>
              <a:tr h="899160">
                <a:tc>
                  <a:txBody>
                    <a:bodyPr/>
                    <a:lstStyle/>
                    <a:p>
                      <a:pPr algn="ctr">
                        <a:buNone/>
                      </a:pPr>
                      <a:r>
                        <a:rPr lang="en-US" sz="2400" b="1" dirty="0">
                          <a:latin typeface="Times New Roman" panose="02020603050405020304" pitchFamily="18" charset="0"/>
                          <a:cs typeface="Times New Roman" panose="02020603050405020304" pitchFamily="18" charset="0"/>
                        </a:rPr>
                        <a:t>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US" sz="2400" b="1" dirty="0">
                          <a:latin typeface="Times New Roman" panose="02020603050405020304" pitchFamily="18" charset="0"/>
                          <a:cs typeface="Times New Roman" panose="02020603050405020304" pitchFamily="18" charset="0"/>
                        </a:rPr>
                        <a:t>Speed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US" sz="2400" b="1" dirty="0">
                          <a:latin typeface="Times New Roman" panose="02020603050405020304" pitchFamily="18" charset="0"/>
                          <a:cs typeface="Times New Roman" panose="02020603050405020304" pitchFamily="18" charset="0"/>
                        </a:rPr>
                        <a:t>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US" sz="2400" b="1" dirty="0">
                          <a:latin typeface="Times New Roman" panose="02020603050405020304" pitchFamily="18" charset="0"/>
                          <a:cs typeface="Times New Roman" panose="02020603050405020304" pitchFamily="18" charset="0"/>
                        </a:rPr>
                        <a:t>Problem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2907599999"/>
                  </a:ext>
                </a:extLst>
              </a:tr>
              <a:tr h="899160">
                <a:tc>
                  <a:txBody>
                    <a:bodyPr/>
                    <a:lstStyle/>
                    <a:p>
                      <a:pPr algn="ctr">
                        <a:buNone/>
                      </a:pPr>
                      <a:r>
                        <a:rPr lang="en-US" sz="2400" dirty="0">
                          <a:latin typeface="Times New Roman" panose="02020603050405020304" pitchFamily="18" charset="0"/>
                          <a:cs typeface="Times New Roman" panose="02020603050405020304" pitchFamily="18" charset="0"/>
                        </a:rPr>
                        <a:t>AES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Key sharing 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0601877"/>
                  </a:ext>
                </a:extLst>
              </a:tr>
              <a:tr h="899160">
                <a:tc>
                  <a:txBody>
                    <a:bodyPr/>
                    <a:lstStyle/>
                    <a:p>
                      <a:pPr algn="ctr">
                        <a:buNone/>
                      </a:pPr>
                      <a:r>
                        <a:rPr lang="en-US" sz="2400" dirty="0">
                          <a:latin typeface="Times New Roman" panose="02020603050405020304" pitchFamily="18" charset="0"/>
                          <a:cs typeface="Times New Roman" panose="02020603050405020304" pitchFamily="18" charset="0"/>
                        </a:rPr>
                        <a:t>3DES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High overhead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4365776"/>
                  </a:ext>
                </a:extLst>
              </a:tr>
              <a:tr h="899160">
                <a:tc>
                  <a:txBody>
                    <a:bodyPr/>
                    <a:lstStyle/>
                    <a:p>
                      <a:pPr algn="ctr">
                        <a:buNone/>
                      </a:pPr>
                      <a:r>
                        <a:rPr lang="en-US" sz="2400" dirty="0">
                          <a:latin typeface="Times New Roman" panose="02020603050405020304" pitchFamily="18" charset="0"/>
                          <a:cs typeface="Times New Roman" panose="02020603050405020304" pitchFamily="18" charset="0"/>
                        </a:rPr>
                        <a:t>RSA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Very 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Not for bulk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2208745"/>
                  </a:ext>
                </a:extLst>
              </a:tr>
              <a:tr h="899160">
                <a:tc>
                  <a:txBody>
                    <a:bodyPr/>
                    <a:lstStyle/>
                    <a:p>
                      <a:pPr algn="ctr">
                        <a:buNone/>
                      </a:pPr>
                      <a:r>
                        <a:rPr lang="en-US" sz="2400" b="1" dirty="0">
                          <a:latin typeface="Times New Roman" panose="02020603050405020304" pitchFamily="18" charset="0"/>
                          <a:cs typeface="Times New Roman" panose="02020603050405020304" pitchFamily="18" charset="0"/>
                        </a:rPr>
                        <a:t>Hybrid (Proposed)</a:t>
                      </a:r>
                      <a:endParaRPr 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latin typeface="Times New Roman" panose="02020603050405020304" pitchFamily="18" charset="0"/>
                          <a:cs typeface="Times New Roman" panose="02020603050405020304" pitchFamily="18" charset="0"/>
                        </a:rPr>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7253509"/>
                  </a:ext>
                </a:extLst>
              </a:tr>
            </a:tbl>
          </a:graphicData>
        </a:graphic>
      </p:graphicFrame>
      <p:sp>
        <p:nvSpPr>
          <p:cNvPr id="2" name="TextBox 1">
            <a:extLst>
              <a:ext uri="{FF2B5EF4-FFF2-40B4-BE49-F238E27FC236}">
                <a16:creationId xmlns:a16="http://schemas.microsoft.com/office/drawing/2014/main" id="{CA77957B-FA58-CE4B-E22B-3D1E539EAFB3}"/>
              </a:ext>
            </a:extLst>
          </p:cNvPr>
          <p:cNvSpPr txBox="1"/>
          <p:nvPr/>
        </p:nvSpPr>
        <p:spPr>
          <a:xfrm>
            <a:off x="6019800" y="7270403"/>
            <a:ext cx="8229600" cy="461665"/>
          </a:xfrm>
          <a:prstGeom prst="rect">
            <a:avLst/>
          </a:prstGeom>
          <a:noFill/>
        </p:spPr>
        <p:txBody>
          <a:bodyPr wrap="square" rtlCol="0">
            <a:spAutoFit/>
          </a:bodyPr>
          <a:lstStyle/>
          <a:p>
            <a:r>
              <a:rPr lang="en-US" sz="2400" b="1" i="1" dirty="0">
                <a:latin typeface="Times New Roman" panose="02020603050405020304" pitchFamily="18" charset="0"/>
                <a:cs typeface="Times New Roman" panose="02020603050405020304" pitchFamily="18" charset="0"/>
              </a:rPr>
              <a:t>Table-2: </a:t>
            </a:r>
            <a:r>
              <a:rPr lang="en-US" sz="2400" i="1" dirty="0">
                <a:latin typeface="Times New Roman" panose="02020603050405020304" pitchFamily="18" charset="0"/>
                <a:cs typeface="Times New Roman" panose="02020603050405020304" pitchFamily="18" charset="0"/>
              </a:rPr>
              <a:t>Comparison Analysis</a:t>
            </a:r>
          </a:p>
        </p:txBody>
      </p:sp>
      <p:sp>
        <p:nvSpPr>
          <p:cNvPr id="6" name="TextBox 5">
            <a:extLst>
              <a:ext uri="{FF2B5EF4-FFF2-40B4-BE49-F238E27FC236}">
                <a16:creationId xmlns:a16="http://schemas.microsoft.com/office/drawing/2014/main" id="{49CC5102-56ED-EFE5-711C-522F2E08A28D}"/>
              </a:ext>
            </a:extLst>
          </p:cNvPr>
          <p:cNvSpPr txBox="1"/>
          <p:nvPr/>
        </p:nvSpPr>
        <p:spPr>
          <a:xfrm>
            <a:off x="914400" y="1181099"/>
            <a:ext cx="69342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Comparison with Existing Approaches :</a:t>
            </a:r>
            <a:endParaRPr lang="en-US" sz="2400" dirty="0"/>
          </a:p>
        </p:txBody>
      </p:sp>
    </p:spTree>
    <p:extLst>
      <p:ext uri="{BB962C8B-B14F-4D97-AF65-F5344CB8AC3E}">
        <p14:creationId xmlns:p14="http://schemas.microsoft.com/office/powerpoint/2010/main" val="653617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5F005DC-F2F0-18B5-9E1C-B3346199D855}"/>
              </a:ext>
            </a:extLst>
          </p:cNvPr>
          <p:cNvGrpSpPr/>
          <p:nvPr/>
        </p:nvGrpSpPr>
        <p:grpSpPr>
          <a:xfrm>
            <a:off x="-77" y="-13599"/>
            <a:ext cx="18288000" cy="10287000"/>
            <a:chOff x="0" y="0"/>
            <a:chExt cx="24384000" cy="13716000"/>
          </a:xfrm>
        </p:grpSpPr>
        <p:sp>
          <p:nvSpPr>
            <p:cNvPr id="4" name="Freeform 4">
              <a:extLst>
                <a:ext uri="{FF2B5EF4-FFF2-40B4-BE49-F238E27FC236}">
                  <a16:creationId xmlns:a16="http://schemas.microsoft.com/office/drawing/2014/main" id="{41A971CA-AB38-A2F6-4896-ABBC6A41B231}"/>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F">
                <a:alpha val="56078"/>
              </a:srgbClr>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3F05D7C5-8FE9-B709-588F-7712F4ED7BF3}"/>
              </a:ext>
            </a:extLst>
          </p:cNvPr>
          <p:cNvSpPr txBox="1"/>
          <p:nvPr/>
        </p:nvSpPr>
        <p:spPr>
          <a:xfrm>
            <a:off x="914400" y="952500"/>
            <a:ext cx="12898191"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Advantages &amp; Limitations : </a:t>
            </a:r>
          </a:p>
        </p:txBody>
      </p:sp>
      <p:sp>
        <p:nvSpPr>
          <p:cNvPr id="8" name="TextBox 7">
            <a:extLst>
              <a:ext uri="{FF2B5EF4-FFF2-40B4-BE49-F238E27FC236}">
                <a16:creationId xmlns:a16="http://schemas.microsoft.com/office/drawing/2014/main" id="{1C4D25D7-7139-7B35-1370-50EFD102353C}"/>
              </a:ext>
            </a:extLst>
          </p:cNvPr>
          <p:cNvSpPr txBox="1"/>
          <p:nvPr/>
        </p:nvSpPr>
        <p:spPr>
          <a:xfrm>
            <a:off x="914400" y="1866900"/>
            <a:ext cx="16230600" cy="7043275"/>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Advantages:</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  High Security:</a:t>
            </a:r>
            <a:r>
              <a:rPr lang="en-US" altLang="en-US" sz="2400" dirty="0">
                <a:latin typeface="Times New Roman" panose="02020603050405020304" pitchFamily="18" charset="0"/>
                <a:cs typeface="Times New Roman" panose="02020603050405020304" pitchFamily="18" charset="0"/>
              </a:rPr>
              <a:t> Combines AES and RSA to provide strong protection against unauthorized access </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  Fast Performance:</a:t>
            </a:r>
            <a:r>
              <a:rPr lang="en-US" altLang="en-US" sz="2400" dirty="0">
                <a:latin typeface="Times New Roman" panose="02020603050405020304" pitchFamily="18" charset="0"/>
                <a:cs typeface="Times New Roman" panose="02020603050405020304" pitchFamily="18" charset="0"/>
              </a:rPr>
              <a:t> AES ensures efficient encryption and decryption of large data </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  Secure Key Exchange:</a:t>
            </a:r>
            <a:r>
              <a:rPr lang="en-US" altLang="en-US" sz="2400" dirty="0">
                <a:latin typeface="Times New Roman" panose="02020603050405020304" pitchFamily="18" charset="0"/>
                <a:cs typeface="Times New Roman" panose="02020603050405020304" pitchFamily="18" charset="0"/>
              </a:rPr>
              <a:t> RSA securely encrypts the AES key, solving key distribution issues </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  Balanced Approach:</a:t>
            </a:r>
            <a:r>
              <a:rPr lang="en-US" altLang="en-US" sz="2400" dirty="0">
                <a:latin typeface="Times New Roman" panose="02020603050405020304" pitchFamily="18" charset="0"/>
                <a:cs typeface="Times New Roman" panose="02020603050405020304" pitchFamily="18" charset="0"/>
              </a:rPr>
              <a:t> Achieves both security and performance compared to traditional methods </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  Real-Time Applicability:</a:t>
            </a:r>
            <a:r>
              <a:rPr lang="en-US" altLang="en-US" sz="2400" dirty="0">
                <a:latin typeface="Times New Roman" panose="02020603050405020304" pitchFamily="18" charset="0"/>
                <a:cs typeface="Times New Roman" panose="02020603050405020304" pitchFamily="18" charset="0"/>
              </a:rPr>
              <a:t> Suitable for applications like cloud storage, secure communication, and online transactions</a:t>
            </a:r>
            <a:endParaRPr lang="en-US" sz="2400" dirty="0">
              <a:latin typeface="Times New Roman" panose="02020603050405020304" pitchFamily="18" charset="0"/>
              <a:cs typeface="Times New Roman" panose="02020603050405020304" pitchFamily="18" charset="0"/>
            </a:endParaRPr>
          </a:p>
          <a:p>
            <a:pPr lvl="1">
              <a:lnSpc>
                <a:spcPct val="150000"/>
              </a:lnSpc>
            </a:pPr>
            <a:endParaRPr lang="en-US" sz="2400" dirty="0">
              <a:latin typeface="Times New Roman" panose="02020603050405020304" pitchFamily="18" charset="0"/>
              <a:cs typeface="Times New Roman" panose="02020603050405020304" pitchFamily="18" charset="0"/>
            </a:endParaRPr>
          </a:p>
          <a:p>
            <a:pPr>
              <a:lnSpc>
                <a:spcPct val="150000"/>
              </a:lnSpc>
              <a:buNone/>
            </a:pPr>
            <a:r>
              <a:rPr lang="en-US" sz="2400" b="1" dirty="0">
                <a:latin typeface="Times New Roman" panose="02020603050405020304" pitchFamily="18" charset="0"/>
                <a:cs typeface="Times New Roman" panose="02020603050405020304" pitchFamily="18" charset="0"/>
              </a:rPr>
              <a:t>Limitations:</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Computational Overhead:</a:t>
            </a:r>
            <a:r>
              <a:rPr lang="en-US" altLang="en-US" sz="2400" dirty="0">
                <a:latin typeface="Times New Roman" panose="02020603050405020304" pitchFamily="18" charset="0"/>
                <a:cs typeface="Times New Roman" panose="02020603050405020304" pitchFamily="18" charset="0"/>
              </a:rPr>
              <a:t> Slight increase in processing due to use of dual algorithms </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Complex Implementation:</a:t>
            </a:r>
            <a:r>
              <a:rPr lang="en-US" altLang="en-US" sz="2400" dirty="0">
                <a:latin typeface="Times New Roman" panose="02020603050405020304" pitchFamily="18" charset="0"/>
                <a:cs typeface="Times New Roman" panose="02020603050405020304" pitchFamily="18" charset="0"/>
              </a:rPr>
              <a:t> Integration of AES and RSA increases system complexity </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Key Management:</a:t>
            </a:r>
            <a:r>
              <a:rPr lang="en-US" altLang="en-US" sz="2400" dirty="0">
                <a:latin typeface="Times New Roman" panose="02020603050405020304" pitchFamily="18" charset="0"/>
                <a:cs typeface="Times New Roman" panose="02020603050405020304" pitchFamily="18" charset="0"/>
              </a:rPr>
              <a:t> Requires proper handling and storage of encryption keys </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Resource Usage:</a:t>
            </a:r>
            <a:r>
              <a:rPr lang="en-US" altLang="en-US" sz="2400" dirty="0">
                <a:latin typeface="Times New Roman" panose="02020603050405020304" pitchFamily="18" charset="0"/>
                <a:cs typeface="Times New Roman" panose="02020603050405020304" pitchFamily="18" charset="0"/>
              </a:rPr>
              <a:t> Asymmetric encryption consumes more computational resources </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Scalability Challenges:</a:t>
            </a:r>
            <a:r>
              <a:rPr lang="en-US" altLang="en-US" sz="2400" dirty="0">
                <a:latin typeface="Times New Roman" panose="02020603050405020304" pitchFamily="18" charset="0"/>
                <a:cs typeface="Times New Roman" panose="02020603050405020304" pitchFamily="18" charset="0"/>
              </a:rPr>
              <a:t> Performance may reduce for very large-scale systems </a:t>
            </a:r>
          </a:p>
        </p:txBody>
      </p:sp>
      <p:sp>
        <p:nvSpPr>
          <p:cNvPr id="2" name="Rectangle 1">
            <a:extLst>
              <a:ext uri="{FF2B5EF4-FFF2-40B4-BE49-F238E27FC236}">
                <a16:creationId xmlns:a16="http://schemas.microsoft.com/office/drawing/2014/main" id="{FDBB4E73-D655-9827-3926-111051E0954C}"/>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397340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1FF"/>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dirty="0">
              <a:latin typeface="Times New Roman" panose="02020603050405020304" pitchFamily="18" charset="0"/>
              <a:cs typeface="Times New Roman" panose="02020603050405020304" pitchFamily="18" charset="0"/>
            </a:endParaRPr>
          </a:p>
        </p:txBody>
      </p:sp>
      <p:grpSp>
        <p:nvGrpSpPr>
          <p:cNvPr id="3" name="Group 3"/>
          <p:cNvGrpSpPr/>
          <p:nvPr/>
        </p:nvGrpSpPr>
        <p:grpSpPr>
          <a:xfrm>
            <a:off x="9525"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F">
                <a:alpha val="56078"/>
              </a:srgbClr>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sp>
        <p:nvSpPr>
          <p:cNvPr id="5" name="TextBox 5"/>
          <p:cNvSpPr txBox="1"/>
          <p:nvPr/>
        </p:nvSpPr>
        <p:spPr>
          <a:xfrm>
            <a:off x="7549315" y="1884264"/>
            <a:ext cx="10047380" cy="935321"/>
          </a:xfrm>
          <a:prstGeom prst="rect">
            <a:avLst/>
          </a:prstGeom>
        </p:spPr>
        <p:txBody>
          <a:bodyPr lIns="0" tIns="0" rIns="0" bIns="0" rtlCol="0" anchor="t">
            <a:spAutoFit/>
          </a:bodyPr>
          <a:lstStyle/>
          <a:p>
            <a:pPr algn="l">
              <a:lnSpc>
                <a:spcPts val="3900"/>
              </a:lnSpc>
            </a:pPr>
            <a:r>
              <a:rPr lang="en-US" sz="2000" dirty="0">
                <a:solidFill>
                  <a:srgbClr val="00002E"/>
                </a:solidFill>
                <a:latin typeface="Times New Roman" panose="02020603050405020304" pitchFamily="18" charset="0"/>
                <a:ea typeface="Times New Roman"/>
                <a:cs typeface="Times New Roman" panose="02020603050405020304" pitchFamily="18" charset="0"/>
                <a:sym typeface="Times New Roman"/>
              </a:rPr>
              <a:t>We have carefully considered the panel's valuable feedback, integrating some suggestions into our current work and planning others for future enhancements. They are :</a:t>
            </a:r>
          </a:p>
        </p:txBody>
      </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4"/>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
        <p:nvSpPr>
          <p:cNvPr id="7" name="TextBox 7"/>
          <p:cNvSpPr txBox="1"/>
          <p:nvPr/>
        </p:nvSpPr>
        <p:spPr>
          <a:xfrm>
            <a:off x="7549315" y="146961"/>
            <a:ext cx="10571998" cy="1354538"/>
          </a:xfrm>
          <a:prstGeom prst="rect">
            <a:avLst/>
          </a:prstGeom>
        </p:spPr>
        <p:txBody>
          <a:bodyPr lIns="0" tIns="0" rIns="0" bIns="0" rtlCol="0" anchor="t">
            <a:spAutoFit/>
          </a:bodyPr>
          <a:lstStyle/>
          <a:p>
            <a:pPr algn="l">
              <a:lnSpc>
                <a:spcPts val="5474"/>
              </a:lnSpc>
            </a:pPr>
            <a:endParaRPr lang="en-US" sz="4000" b="1" dirty="0">
              <a:solidFill>
                <a:srgbClr val="00002E"/>
              </a:solidFill>
              <a:latin typeface="Times New Roman" panose="02020603050405020304" pitchFamily="18" charset="0"/>
              <a:ea typeface="Times New Roman"/>
              <a:cs typeface="Times New Roman" panose="02020603050405020304" pitchFamily="18" charset="0"/>
              <a:sym typeface="Times New Roman"/>
            </a:endParaRPr>
          </a:p>
          <a:p>
            <a:pPr algn="l">
              <a:lnSpc>
                <a:spcPts val="5474"/>
              </a:lnSpc>
            </a:pPr>
            <a:r>
              <a:rPr lang="en-US" sz="4000" b="1" dirty="0">
                <a:solidFill>
                  <a:srgbClr val="00002E"/>
                </a:solidFill>
                <a:latin typeface="Times New Roman" panose="02020603050405020304" pitchFamily="18" charset="0"/>
                <a:ea typeface="Times New Roman"/>
                <a:cs typeface="Times New Roman" panose="02020603050405020304" pitchFamily="18" charset="0"/>
                <a:sym typeface="Times New Roman"/>
              </a:rPr>
              <a:t>Future Scope : </a:t>
            </a:r>
          </a:p>
        </p:txBody>
      </p:sp>
      <p:grpSp>
        <p:nvGrpSpPr>
          <p:cNvPr id="8" name="Group 8"/>
          <p:cNvGrpSpPr/>
          <p:nvPr/>
        </p:nvGrpSpPr>
        <p:grpSpPr>
          <a:xfrm>
            <a:off x="7535027" y="3349314"/>
            <a:ext cx="4953438" cy="2387308"/>
            <a:chOff x="0" y="0"/>
            <a:chExt cx="6604584" cy="3183077"/>
          </a:xfrm>
        </p:grpSpPr>
        <p:sp>
          <p:nvSpPr>
            <p:cNvPr id="9" name="Freeform 9"/>
            <p:cNvSpPr/>
            <p:nvPr/>
          </p:nvSpPr>
          <p:spPr>
            <a:xfrm>
              <a:off x="18923" y="19050"/>
              <a:ext cx="6566662" cy="3145028"/>
            </a:xfrm>
            <a:custGeom>
              <a:avLst/>
              <a:gdLst/>
              <a:ahLst/>
              <a:cxnLst/>
              <a:rect l="l" t="t" r="r" b="b"/>
              <a:pathLst>
                <a:path w="6566662" h="3145028">
                  <a:moveTo>
                    <a:pt x="127" y="202946"/>
                  </a:moveTo>
                  <a:cubicBezTo>
                    <a:pt x="127" y="90932"/>
                    <a:pt x="91567" y="0"/>
                    <a:pt x="204343" y="0"/>
                  </a:cubicBezTo>
                  <a:lnTo>
                    <a:pt x="6362319" y="0"/>
                  </a:lnTo>
                  <a:cubicBezTo>
                    <a:pt x="6475095" y="0"/>
                    <a:pt x="6566662" y="90932"/>
                    <a:pt x="6566662" y="203073"/>
                  </a:cubicBezTo>
                  <a:lnTo>
                    <a:pt x="6566662" y="2941955"/>
                  </a:lnTo>
                  <a:cubicBezTo>
                    <a:pt x="6566662" y="3054096"/>
                    <a:pt x="6475222" y="3145028"/>
                    <a:pt x="6362319" y="3145028"/>
                  </a:cubicBezTo>
                  <a:lnTo>
                    <a:pt x="204343" y="3145028"/>
                  </a:lnTo>
                  <a:cubicBezTo>
                    <a:pt x="91567" y="3145028"/>
                    <a:pt x="0" y="3054096"/>
                    <a:pt x="0" y="2941955"/>
                  </a:cubicBezTo>
                  <a:close/>
                </a:path>
              </a:pathLst>
            </a:custGeom>
            <a:solidFill>
              <a:srgbClr val="F3F3FF">
                <a:alpha val="56078"/>
              </a:srgbClr>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10" name="Freeform 10"/>
            <p:cNvSpPr/>
            <p:nvPr/>
          </p:nvSpPr>
          <p:spPr>
            <a:xfrm>
              <a:off x="0" y="0"/>
              <a:ext cx="6604508" cy="3183001"/>
            </a:xfrm>
            <a:custGeom>
              <a:avLst/>
              <a:gdLst/>
              <a:ahLst/>
              <a:cxnLst/>
              <a:rect l="l" t="t" r="r" b="b"/>
              <a:pathLst>
                <a:path w="6604508" h="3183001">
                  <a:moveTo>
                    <a:pt x="0" y="221996"/>
                  </a:moveTo>
                  <a:cubicBezTo>
                    <a:pt x="0" y="99314"/>
                    <a:pt x="100076" y="0"/>
                    <a:pt x="223266" y="0"/>
                  </a:cubicBezTo>
                  <a:lnTo>
                    <a:pt x="6381242" y="0"/>
                  </a:lnTo>
                  <a:lnTo>
                    <a:pt x="6381242" y="19050"/>
                  </a:lnTo>
                  <a:lnTo>
                    <a:pt x="6381242" y="0"/>
                  </a:lnTo>
                  <a:cubicBezTo>
                    <a:pt x="6504432" y="0"/>
                    <a:pt x="6604508" y="99314"/>
                    <a:pt x="6604508" y="221996"/>
                  </a:cubicBezTo>
                  <a:lnTo>
                    <a:pt x="6585458" y="221996"/>
                  </a:lnTo>
                  <a:lnTo>
                    <a:pt x="6604508" y="221996"/>
                  </a:lnTo>
                  <a:lnTo>
                    <a:pt x="6604508" y="2961005"/>
                  </a:lnTo>
                  <a:lnTo>
                    <a:pt x="6585458" y="2961005"/>
                  </a:lnTo>
                  <a:lnTo>
                    <a:pt x="6604508" y="2961005"/>
                  </a:lnTo>
                  <a:cubicBezTo>
                    <a:pt x="6604508" y="3083814"/>
                    <a:pt x="6504432" y="3183001"/>
                    <a:pt x="6381242" y="3183001"/>
                  </a:cubicBezTo>
                  <a:lnTo>
                    <a:pt x="6381242" y="3163951"/>
                  </a:lnTo>
                  <a:lnTo>
                    <a:pt x="6381242" y="3183001"/>
                  </a:lnTo>
                  <a:lnTo>
                    <a:pt x="223266" y="3183001"/>
                  </a:lnTo>
                  <a:lnTo>
                    <a:pt x="223266" y="3163951"/>
                  </a:lnTo>
                  <a:lnTo>
                    <a:pt x="223266" y="3183001"/>
                  </a:lnTo>
                  <a:cubicBezTo>
                    <a:pt x="100076" y="3183128"/>
                    <a:pt x="0" y="3083814"/>
                    <a:pt x="0" y="2961005"/>
                  </a:cubicBezTo>
                  <a:lnTo>
                    <a:pt x="0" y="221996"/>
                  </a:lnTo>
                  <a:lnTo>
                    <a:pt x="19050" y="221996"/>
                  </a:lnTo>
                  <a:lnTo>
                    <a:pt x="0" y="221996"/>
                  </a:lnTo>
                  <a:moveTo>
                    <a:pt x="38100" y="221996"/>
                  </a:moveTo>
                  <a:lnTo>
                    <a:pt x="38100" y="2961005"/>
                  </a:lnTo>
                  <a:lnTo>
                    <a:pt x="19050" y="2961005"/>
                  </a:lnTo>
                  <a:lnTo>
                    <a:pt x="38100" y="2961005"/>
                  </a:lnTo>
                  <a:cubicBezTo>
                    <a:pt x="38100" y="3062478"/>
                    <a:pt x="120904" y="3145028"/>
                    <a:pt x="223393" y="3145028"/>
                  </a:cubicBezTo>
                  <a:lnTo>
                    <a:pt x="6381242" y="3145028"/>
                  </a:lnTo>
                  <a:cubicBezTo>
                    <a:pt x="6483604" y="3145028"/>
                    <a:pt x="6566535" y="3062605"/>
                    <a:pt x="6566535" y="2961005"/>
                  </a:cubicBezTo>
                  <a:lnTo>
                    <a:pt x="6566535" y="221996"/>
                  </a:lnTo>
                  <a:cubicBezTo>
                    <a:pt x="6566535" y="120523"/>
                    <a:pt x="6483731" y="38100"/>
                    <a:pt x="6381242" y="38100"/>
                  </a:cubicBezTo>
                  <a:lnTo>
                    <a:pt x="223266" y="38100"/>
                  </a:lnTo>
                  <a:lnTo>
                    <a:pt x="223266" y="19050"/>
                  </a:lnTo>
                  <a:lnTo>
                    <a:pt x="223266" y="38100"/>
                  </a:lnTo>
                  <a:cubicBezTo>
                    <a:pt x="120904" y="38100"/>
                    <a:pt x="38100" y="120523"/>
                    <a:pt x="38100" y="221996"/>
                  </a:cubicBez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11" name="Group 11"/>
          <p:cNvGrpSpPr/>
          <p:nvPr/>
        </p:nvGrpSpPr>
        <p:grpSpPr>
          <a:xfrm>
            <a:off x="7520721" y="3363592"/>
            <a:ext cx="114376" cy="2322004"/>
            <a:chOff x="0" y="0"/>
            <a:chExt cx="152502" cy="3096006"/>
          </a:xfrm>
        </p:grpSpPr>
        <p:sp>
          <p:nvSpPr>
            <p:cNvPr id="12" name="Freeform 12"/>
            <p:cNvSpPr/>
            <p:nvPr/>
          </p:nvSpPr>
          <p:spPr>
            <a:xfrm>
              <a:off x="0" y="0"/>
              <a:ext cx="152400" cy="3096006"/>
            </a:xfrm>
            <a:custGeom>
              <a:avLst/>
              <a:gdLst/>
              <a:ahLst/>
              <a:cxnLst/>
              <a:rect l="l" t="t" r="r" b="b"/>
              <a:pathLst>
                <a:path w="152400" h="3096006">
                  <a:moveTo>
                    <a:pt x="0" y="76200"/>
                  </a:moveTo>
                  <a:cubicBezTo>
                    <a:pt x="0" y="34163"/>
                    <a:pt x="34163" y="0"/>
                    <a:pt x="76200" y="0"/>
                  </a:cubicBezTo>
                  <a:cubicBezTo>
                    <a:pt x="118237" y="0"/>
                    <a:pt x="152400" y="34163"/>
                    <a:pt x="152400" y="76200"/>
                  </a:cubicBezTo>
                  <a:lnTo>
                    <a:pt x="152400" y="3019806"/>
                  </a:lnTo>
                  <a:cubicBezTo>
                    <a:pt x="152400" y="3061970"/>
                    <a:pt x="118237" y="3096006"/>
                    <a:pt x="76200" y="3096006"/>
                  </a:cubicBezTo>
                  <a:cubicBezTo>
                    <a:pt x="34163" y="3096006"/>
                    <a:pt x="0" y="3061843"/>
                    <a:pt x="0" y="3019806"/>
                  </a:cubicBezTo>
                  <a:close/>
                </a:path>
              </a:pathLst>
            </a:custGeom>
            <a:solidFill>
              <a:srgbClr val="2D4DF2"/>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sp>
        <p:nvSpPr>
          <p:cNvPr id="13" name="TextBox 13"/>
          <p:cNvSpPr txBox="1"/>
          <p:nvPr/>
        </p:nvSpPr>
        <p:spPr>
          <a:xfrm>
            <a:off x="7861097" y="3398234"/>
            <a:ext cx="4099503" cy="314189"/>
          </a:xfrm>
          <a:prstGeom prst="rect">
            <a:avLst/>
          </a:prstGeom>
        </p:spPr>
        <p:txBody>
          <a:bodyPr lIns="0" tIns="0" rIns="0" bIns="0" rtlCol="0" anchor="t">
            <a:spAutoFit/>
          </a:bodyPr>
          <a:lstStyle/>
          <a:p>
            <a:pPr algn="l">
              <a:lnSpc>
                <a:spcPts val="2699"/>
              </a:lnSpc>
            </a:pPr>
            <a:r>
              <a:rPr lang="en-US" sz="1812"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Parallel / GPU Acceleration</a:t>
            </a:r>
          </a:p>
        </p:txBody>
      </p:sp>
      <p:sp>
        <p:nvSpPr>
          <p:cNvPr id="14" name="TextBox 14"/>
          <p:cNvSpPr txBox="1"/>
          <p:nvPr/>
        </p:nvSpPr>
        <p:spPr>
          <a:xfrm>
            <a:off x="7861078" y="3877199"/>
            <a:ext cx="4387129" cy="1466850"/>
          </a:xfrm>
          <a:prstGeom prst="rect">
            <a:avLst/>
          </a:prstGeom>
        </p:spPr>
        <p:txBody>
          <a:bodyPr lIns="0" tIns="0" rIns="0" bIns="0" rtlCol="0" anchor="t">
            <a:spAutoFit/>
          </a:bodyPr>
          <a:lstStyle/>
          <a:p>
            <a:pPr algn="just">
              <a:lnSpc>
                <a:spcPts val="2925"/>
              </a:lnSpc>
            </a:pPr>
            <a:r>
              <a:rPr lang="en-US" sz="1500" dirty="0">
                <a:solidFill>
                  <a:srgbClr val="00002E"/>
                </a:solidFill>
                <a:latin typeface="Times New Roman" panose="02020603050405020304" pitchFamily="18" charset="0"/>
                <a:ea typeface="Times New Roman"/>
                <a:cs typeface="Times New Roman" panose="02020603050405020304" pitchFamily="18" charset="0"/>
                <a:sym typeface="Times New Roman"/>
              </a:rPr>
              <a:t>Currently the project focuses on algorithmic performance analysis of AES and hybrid encryption on standard CPU-based systems . Parallel and GPU-accelerated encryption has been identified as a future enhancement</a:t>
            </a:r>
          </a:p>
        </p:txBody>
      </p:sp>
      <p:grpSp>
        <p:nvGrpSpPr>
          <p:cNvPr id="15" name="Group 15"/>
          <p:cNvGrpSpPr/>
          <p:nvPr/>
        </p:nvGrpSpPr>
        <p:grpSpPr>
          <a:xfrm>
            <a:off x="12657411" y="3342408"/>
            <a:ext cx="4953438" cy="2387308"/>
            <a:chOff x="0" y="0"/>
            <a:chExt cx="6604584" cy="3183077"/>
          </a:xfrm>
        </p:grpSpPr>
        <p:sp>
          <p:nvSpPr>
            <p:cNvPr id="16" name="Freeform 16"/>
            <p:cNvSpPr/>
            <p:nvPr/>
          </p:nvSpPr>
          <p:spPr>
            <a:xfrm>
              <a:off x="18923" y="19050"/>
              <a:ext cx="6566662" cy="3145028"/>
            </a:xfrm>
            <a:custGeom>
              <a:avLst/>
              <a:gdLst/>
              <a:ahLst/>
              <a:cxnLst/>
              <a:rect l="l" t="t" r="r" b="b"/>
              <a:pathLst>
                <a:path w="6566662" h="3145028">
                  <a:moveTo>
                    <a:pt x="127" y="202946"/>
                  </a:moveTo>
                  <a:cubicBezTo>
                    <a:pt x="127" y="90932"/>
                    <a:pt x="91567" y="0"/>
                    <a:pt x="204343" y="0"/>
                  </a:cubicBezTo>
                  <a:lnTo>
                    <a:pt x="6362319" y="0"/>
                  </a:lnTo>
                  <a:cubicBezTo>
                    <a:pt x="6475095" y="0"/>
                    <a:pt x="6566662" y="90932"/>
                    <a:pt x="6566662" y="203073"/>
                  </a:cubicBezTo>
                  <a:lnTo>
                    <a:pt x="6566662" y="2941955"/>
                  </a:lnTo>
                  <a:cubicBezTo>
                    <a:pt x="6566662" y="3054096"/>
                    <a:pt x="6475222" y="3145028"/>
                    <a:pt x="6362319" y="3145028"/>
                  </a:cubicBezTo>
                  <a:lnTo>
                    <a:pt x="204343" y="3145028"/>
                  </a:lnTo>
                  <a:cubicBezTo>
                    <a:pt x="91567" y="3145028"/>
                    <a:pt x="0" y="3054096"/>
                    <a:pt x="0" y="2941955"/>
                  </a:cubicBezTo>
                  <a:close/>
                </a:path>
              </a:pathLst>
            </a:custGeom>
            <a:solidFill>
              <a:srgbClr val="F3F3FF">
                <a:alpha val="56078"/>
              </a:srgbClr>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17" name="Freeform 17"/>
            <p:cNvSpPr/>
            <p:nvPr/>
          </p:nvSpPr>
          <p:spPr>
            <a:xfrm>
              <a:off x="0" y="0"/>
              <a:ext cx="6604508" cy="3183001"/>
            </a:xfrm>
            <a:custGeom>
              <a:avLst/>
              <a:gdLst/>
              <a:ahLst/>
              <a:cxnLst/>
              <a:rect l="l" t="t" r="r" b="b"/>
              <a:pathLst>
                <a:path w="6604508" h="3183001">
                  <a:moveTo>
                    <a:pt x="0" y="221996"/>
                  </a:moveTo>
                  <a:cubicBezTo>
                    <a:pt x="0" y="99314"/>
                    <a:pt x="100076" y="0"/>
                    <a:pt x="223266" y="0"/>
                  </a:cubicBezTo>
                  <a:lnTo>
                    <a:pt x="6381242" y="0"/>
                  </a:lnTo>
                  <a:lnTo>
                    <a:pt x="6381242" y="19050"/>
                  </a:lnTo>
                  <a:lnTo>
                    <a:pt x="6381242" y="0"/>
                  </a:lnTo>
                  <a:cubicBezTo>
                    <a:pt x="6504432" y="0"/>
                    <a:pt x="6604508" y="99314"/>
                    <a:pt x="6604508" y="221996"/>
                  </a:cubicBezTo>
                  <a:lnTo>
                    <a:pt x="6585458" y="221996"/>
                  </a:lnTo>
                  <a:lnTo>
                    <a:pt x="6604508" y="221996"/>
                  </a:lnTo>
                  <a:lnTo>
                    <a:pt x="6604508" y="2961005"/>
                  </a:lnTo>
                  <a:lnTo>
                    <a:pt x="6585458" y="2961005"/>
                  </a:lnTo>
                  <a:lnTo>
                    <a:pt x="6604508" y="2961005"/>
                  </a:lnTo>
                  <a:cubicBezTo>
                    <a:pt x="6604508" y="3083814"/>
                    <a:pt x="6504432" y="3183001"/>
                    <a:pt x="6381242" y="3183001"/>
                  </a:cubicBezTo>
                  <a:lnTo>
                    <a:pt x="6381242" y="3163951"/>
                  </a:lnTo>
                  <a:lnTo>
                    <a:pt x="6381242" y="3183001"/>
                  </a:lnTo>
                  <a:lnTo>
                    <a:pt x="223266" y="3183001"/>
                  </a:lnTo>
                  <a:lnTo>
                    <a:pt x="223266" y="3163951"/>
                  </a:lnTo>
                  <a:lnTo>
                    <a:pt x="223266" y="3183001"/>
                  </a:lnTo>
                  <a:cubicBezTo>
                    <a:pt x="100076" y="3183128"/>
                    <a:pt x="0" y="3083814"/>
                    <a:pt x="0" y="2961005"/>
                  </a:cubicBezTo>
                  <a:lnTo>
                    <a:pt x="0" y="221996"/>
                  </a:lnTo>
                  <a:lnTo>
                    <a:pt x="19050" y="221996"/>
                  </a:lnTo>
                  <a:lnTo>
                    <a:pt x="0" y="221996"/>
                  </a:lnTo>
                  <a:moveTo>
                    <a:pt x="38100" y="221996"/>
                  </a:moveTo>
                  <a:lnTo>
                    <a:pt x="38100" y="2961005"/>
                  </a:lnTo>
                  <a:lnTo>
                    <a:pt x="19050" y="2961005"/>
                  </a:lnTo>
                  <a:lnTo>
                    <a:pt x="38100" y="2961005"/>
                  </a:lnTo>
                  <a:cubicBezTo>
                    <a:pt x="38100" y="3062478"/>
                    <a:pt x="120904" y="3145028"/>
                    <a:pt x="223393" y="3145028"/>
                  </a:cubicBezTo>
                  <a:lnTo>
                    <a:pt x="6381242" y="3145028"/>
                  </a:lnTo>
                  <a:cubicBezTo>
                    <a:pt x="6483604" y="3145028"/>
                    <a:pt x="6566535" y="3062605"/>
                    <a:pt x="6566535" y="2961005"/>
                  </a:cubicBezTo>
                  <a:lnTo>
                    <a:pt x="6566535" y="221996"/>
                  </a:lnTo>
                  <a:cubicBezTo>
                    <a:pt x="6566535" y="120523"/>
                    <a:pt x="6483731" y="38100"/>
                    <a:pt x="6381242" y="38100"/>
                  </a:cubicBezTo>
                  <a:lnTo>
                    <a:pt x="223266" y="38100"/>
                  </a:lnTo>
                  <a:lnTo>
                    <a:pt x="223266" y="19050"/>
                  </a:lnTo>
                  <a:lnTo>
                    <a:pt x="223266" y="38100"/>
                  </a:lnTo>
                  <a:cubicBezTo>
                    <a:pt x="120904" y="38100"/>
                    <a:pt x="38100" y="120523"/>
                    <a:pt x="38100" y="221996"/>
                  </a:cubicBezTo>
                  <a:close/>
                </a:path>
              </a:pathLst>
            </a:custGeom>
            <a:solidFill>
              <a:srgbClr val="018CE1"/>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18" name="Group 18"/>
          <p:cNvGrpSpPr/>
          <p:nvPr/>
        </p:nvGrpSpPr>
        <p:grpSpPr>
          <a:xfrm>
            <a:off x="12558655" y="3429962"/>
            <a:ext cx="114376" cy="2255996"/>
            <a:chOff x="0" y="0"/>
            <a:chExt cx="152502" cy="3007995"/>
          </a:xfrm>
        </p:grpSpPr>
        <p:sp>
          <p:nvSpPr>
            <p:cNvPr id="19" name="Freeform 19"/>
            <p:cNvSpPr/>
            <p:nvPr/>
          </p:nvSpPr>
          <p:spPr>
            <a:xfrm>
              <a:off x="0" y="0"/>
              <a:ext cx="152400" cy="3007995"/>
            </a:xfrm>
            <a:custGeom>
              <a:avLst/>
              <a:gdLst/>
              <a:ahLst/>
              <a:cxnLst/>
              <a:rect l="l" t="t" r="r" b="b"/>
              <a:pathLst>
                <a:path w="152400" h="3007995">
                  <a:moveTo>
                    <a:pt x="0" y="76200"/>
                  </a:moveTo>
                  <a:cubicBezTo>
                    <a:pt x="0" y="34163"/>
                    <a:pt x="34163" y="0"/>
                    <a:pt x="76200" y="0"/>
                  </a:cubicBezTo>
                  <a:cubicBezTo>
                    <a:pt x="118237" y="0"/>
                    <a:pt x="152400" y="34163"/>
                    <a:pt x="152400" y="76200"/>
                  </a:cubicBezTo>
                  <a:lnTo>
                    <a:pt x="152400" y="2931795"/>
                  </a:lnTo>
                  <a:cubicBezTo>
                    <a:pt x="152400" y="2973959"/>
                    <a:pt x="118237" y="3007995"/>
                    <a:pt x="76200" y="3007995"/>
                  </a:cubicBezTo>
                  <a:cubicBezTo>
                    <a:pt x="34163" y="3007995"/>
                    <a:pt x="0" y="2973832"/>
                    <a:pt x="0" y="2931795"/>
                  </a:cubicBezTo>
                  <a:close/>
                </a:path>
              </a:pathLst>
            </a:custGeom>
            <a:solidFill>
              <a:srgbClr val="018CE1"/>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sp>
        <p:nvSpPr>
          <p:cNvPr id="20" name="TextBox 20"/>
          <p:cNvSpPr txBox="1"/>
          <p:nvPr/>
        </p:nvSpPr>
        <p:spPr>
          <a:xfrm>
            <a:off x="12983470" y="3398234"/>
            <a:ext cx="3792379" cy="314189"/>
          </a:xfrm>
          <a:prstGeom prst="rect">
            <a:avLst/>
          </a:prstGeom>
        </p:spPr>
        <p:txBody>
          <a:bodyPr lIns="0" tIns="0" rIns="0" bIns="0" rtlCol="0" anchor="t">
            <a:spAutoFit/>
          </a:bodyPr>
          <a:lstStyle/>
          <a:p>
            <a:pPr algn="l">
              <a:lnSpc>
                <a:spcPts val="2699"/>
              </a:lnSpc>
            </a:pPr>
            <a:r>
              <a:rPr lang="en-US" sz="1812"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Dynamic Key Generation &amp; Rotation</a:t>
            </a:r>
          </a:p>
        </p:txBody>
      </p:sp>
      <p:sp>
        <p:nvSpPr>
          <p:cNvPr id="21" name="TextBox 21"/>
          <p:cNvSpPr txBox="1"/>
          <p:nvPr/>
        </p:nvSpPr>
        <p:spPr>
          <a:xfrm>
            <a:off x="12983470" y="4055126"/>
            <a:ext cx="4387129" cy="1439689"/>
          </a:xfrm>
          <a:prstGeom prst="rect">
            <a:avLst/>
          </a:prstGeom>
        </p:spPr>
        <p:txBody>
          <a:bodyPr lIns="0" tIns="0" rIns="0" bIns="0" rtlCol="0" anchor="t">
            <a:spAutoFit/>
          </a:bodyPr>
          <a:lstStyle/>
          <a:p>
            <a:pPr algn="just">
              <a:lnSpc>
                <a:spcPts val="2925"/>
              </a:lnSpc>
            </a:pPr>
            <a:r>
              <a:rPr lang="en-US" sz="1500" dirty="0">
                <a:solidFill>
                  <a:srgbClr val="00002E"/>
                </a:solidFill>
                <a:latin typeface="Times New Roman" panose="02020603050405020304" pitchFamily="18" charset="0"/>
                <a:ea typeface="Times New Roman"/>
                <a:cs typeface="Times New Roman" panose="02020603050405020304" pitchFamily="18" charset="0"/>
                <a:sym typeface="Times New Roman"/>
              </a:rPr>
              <a:t>This Project Already supports dynamic key generation during runtime But the Automated key rotation mechanisms can be incorporated as an extension in future phases</a:t>
            </a:r>
          </a:p>
        </p:txBody>
      </p:sp>
      <p:grpSp>
        <p:nvGrpSpPr>
          <p:cNvPr id="22" name="Group 22"/>
          <p:cNvGrpSpPr/>
          <p:nvPr/>
        </p:nvGrpSpPr>
        <p:grpSpPr>
          <a:xfrm>
            <a:off x="9931594" y="6451063"/>
            <a:ext cx="4953438" cy="2350560"/>
            <a:chOff x="0" y="0"/>
            <a:chExt cx="6604584" cy="3134081"/>
          </a:xfrm>
        </p:grpSpPr>
        <p:sp>
          <p:nvSpPr>
            <p:cNvPr id="23" name="Freeform 23"/>
            <p:cNvSpPr/>
            <p:nvPr/>
          </p:nvSpPr>
          <p:spPr>
            <a:xfrm>
              <a:off x="19050" y="19050"/>
              <a:ext cx="6566535" cy="3096006"/>
            </a:xfrm>
            <a:custGeom>
              <a:avLst/>
              <a:gdLst/>
              <a:ahLst/>
              <a:cxnLst/>
              <a:rect l="l" t="t" r="r" b="b"/>
              <a:pathLst>
                <a:path w="6566535" h="3096006">
                  <a:moveTo>
                    <a:pt x="0" y="234823"/>
                  </a:moveTo>
                  <a:cubicBezTo>
                    <a:pt x="0" y="105156"/>
                    <a:pt x="105791" y="0"/>
                    <a:pt x="236220" y="0"/>
                  </a:cubicBezTo>
                  <a:lnTo>
                    <a:pt x="6330188" y="0"/>
                  </a:lnTo>
                  <a:cubicBezTo>
                    <a:pt x="6460744" y="0"/>
                    <a:pt x="6566535" y="105156"/>
                    <a:pt x="6566535" y="234823"/>
                  </a:cubicBezTo>
                  <a:lnTo>
                    <a:pt x="6566535" y="2861183"/>
                  </a:lnTo>
                  <a:cubicBezTo>
                    <a:pt x="6566535" y="2990850"/>
                    <a:pt x="6460744" y="3096006"/>
                    <a:pt x="6330188" y="3096006"/>
                  </a:cubicBezTo>
                  <a:lnTo>
                    <a:pt x="236220" y="3096006"/>
                  </a:lnTo>
                  <a:cubicBezTo>
                    <a:pt x="105791" y="3096006"/>
                    <a:pt x="0" y="2990850"/>
                    <a:pt x="0" y="2861183"/>
                  </a:cubicBezTo>
                  <a:close/>
                </a:path>
              </a:pathLst>
            </a:custGeom>
            <a:solidFill>
              <a:srgbClr val="F3F3FF">
                <a:alpha val="56078"/>
              </a:srgbClr>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24" name="Freeform 24"/>
            <p:cNvSpPr/>
            <p:nvPr/>
          </p:nvSpPr>
          <p:spPr>
            <a:xfrm>
              <a:off x="0" y="0"/>
              <a:ext cx="6604508" cy="3134106"/>
            </a:xfrm>
            <a:custGeom>
              <a:avLst/>
              <a:gdLst/>
              <a:ahLst/>
              <a:cxnLst/>
              <a:rect l="l" t="t" r="r" b="b"/>
              <a:pathLst>
                <a:path w="6604508" h="3134106">
                  <a:moveTo>
                    <a:pt x="0" y="253873"/>
                  </a:moveTo>
                  <a:cubicBezTo>
                    <a:pt x="0" y="113538"/>
                    <a:pt x="114427" y="0"/>
                    <a:pt x="255270" y="0"/>
                  </a:cubicBezTo>
                  <a:lnTo>
                    <a:pt x="6349238" y="0"/>
                  </a:lnTo>
                  <a:lnTo>
                    <a:pt x="6349238" y="19050"/>
                  </a:lnTo>
                  <a:lnTo>
                    <a:pt x="6349238" y="0"/>
                  </a:lnTo>
                  <a:cubicBezTo>
                    <a:pt x="6490081" y="0"/>
                    <a:pt x="6604508" y="113538"/>
                    <a:pt x="6604508" y="253873"/>
                  </a:cubicBezTo>
                  <a:lnTo>
                    <a:pt x="6585458" y="253873"/>
                  </a:lnTo>
                  <a:lnTo>
                    <a:pt x="6604508" y="253873"/>
                  </a:lnTo>
                  <a:lnTo>
                    <a:pt x="6604508" y="2880233"/>
                  </a:lnTo>
                  <a:lnTo>
                    <a:pt x="6585458" y="2880233"/>
                  </a:lnTo>
                  <a:lnTo>
                    <a:pt x="6604508" y="2880233"/>
                  </a:lnTo>
                  <a:cubicBezTo>
                    <a:pt x="6604508" y="3020568"/>
                    <a:pt x="6490081" y="3134106"/>
                    <a:pt x="6349238" y="3134106"/>
                  </a:cubicBezTo>
                  <a:lnTo>
                    <a:pt x="6349238" y="3115056"/>
                  </a:lnTo>
                  <a:lnTo>
                    <a:pt x="6349238" y="3134106"/>
                  </a:lnTo>
                  <a:lnTo>
                    <a:pt x="255270" y="3134106"/>
                  </a:lnTo>
                  <a:lnTo>
                    <a:pt x="255270" y="3115056"/>
                  </a:lnTo>
                  <a:lnTo>
                    <a:pt x="255270" y="3134106"/>
                  </a:lnTo>
                  <a:cubicBezTo>
                    <a:pt x="114427" y="3134106"/>
                    <a:pt x="0" y="3020568"/>
                    <a:pt x="0" y="2880233"/>
                  </a:cubicBezTo>
                  <a:lnTo>
                    <a:pt x="0" y="253873"/>
                  </a:lnTo>
                  <a:lnTo>
                    <a:pt x="19050" y="253873"/>
                  </a:lnTo>
                  <a:lnTo>
                    <a:pt x="0" y="253873"/>
                  </a:lnTo>
                  <a:moveTo>
                    <a:pt x="38100" y="253873"/>
                  </a:moveTo>
                  <a:lnTo>
                    <a:pt x="38100" y="2880233"/>
                  </a:lnTo>
                  <a:lnTo>
                    <a:pt x="19050" y="2880233"/>
                  </a:lnTo>
                  <a:lnTo>
                    <a:pt x="38100" y="2880233"/>
                  </a:lnTo>
                  <a:cubicBezTo>
                    <a:pt x="38100" y="2999232"/>
                    <a:pt x="135255" y="3096006"/>
                    <a:pt x="255397" y="3096006"/>
                  </a:cubicBezTo>
                  <a:lnTo>
                    <a:pt x="6349238" y="3096006"/>
                  </a:lnTo>
                  <a:cubicBezTo>
                    <a:pt x="6469380" y="3096006"/>
                    <a:pt x="6566535" y="2999359"/>
                    <a:pt x="6566535" y="2880233"/>
                  </a:cubicBezTo>
                  <a:lnTo>
                    <a:pt x="6566535" y="253873"/>
                  </a:lnTo>
                  <a:cubicBezTo>
                    <a:pt x="6566535" y="134747"/>
                    <a:pt x="6469380" y="38100"/>
                    <a:pt x="6349238" y="38100"/>
                  </a:cubicBezTo>
                  <a:lnTo>
                    <a:pt x="255270" y="38100"/>
                  </a:lnTo>
                  <a:lnTo>
                    <a:pt x="255270" y="19050"/>
                  </a:lnTo>
                  <a:lnTo>
                    <a:pt x="255270" y="38100"/>
                  </a:lnTo>
                  <a:cubicBezTo>
                    <a:pt x="135255" y="38100"/>
                    <a:pt x="38100" y="134747"/>
                    <a:pt x="38100" y="253873"/>
                  </a:cubicBezTo>
                  <a:close/>
                </a:path>
              </a:pathLst>
            </a:custGeom>
            <a:solidFill>
              <a:srgbClr val="DA33BF"/>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grpSp>
        <p:nvGrpSpPr>
          <p:cNvPr id="25" name="Group 25"/>
          <p:cNvGrpSpPr/>
          <p:nvPr/>
        </p:nvGrpSpPr>
        <p:grpSpPr>
          <a:xfrm>
            <a:off x="9831495" y="6527987"/>
            <a:ext cx="114376" cy="2197122"/>
            <a:chOff x="0" y="0"/>
            <a:chExt cx="152502" cy="2929496"/>
          </a:xfrm>
        </p:grpSpPr>
        <p:sp>
          <p:nvSpPr>
            <p:cNvPr id="26" name="Freeform 26"/>
            <p:cNvSpPr/>
            <p:nvPr/>
          </p:nvSpPr>
          <p:spPr>
            <a:xfrm>
              <a:off x="0" y="0"/>
              <a:ext cx="152400" cy="2929509"/>
            </a:xfrm>
            <a:custGeom>
              <a:avLst/>
              <a:gdLst/>
              <a:ahLst/>
              <a:cxnLst/>
              <a:rect l="l" t="t" r="r" b="b"/>
              <a:pathLst>
                <a:path w="152400" h="2929509">
                  <a:moveTo>
                    <a:pt x="0" y="76200"/>
                  </a:moveTo>
                  <a:cubicBezTo>
                    <a:pt x="0" y="34163"/>
                    <a:pt x="34163" y="0"/>
                    <a:pt x="76200" y="0"/>
                  </a:cubicBezTo>
                  <a:cubicBezTo>
                    <a:pt x="118237" y="0"/>
                    <a:pt x="152400" y="34163"/>
                    <a:pt x="152400" y="76200"/>
                  </a:cubicBezTo>
                  <a:lnTo>
                    <a:pt x="152400" y="2853309"/>
                  </a:lnTo>
                  <a:cubicBezTo>
                    <a:pt x="152400" y="2895473"/>
                    <a:pt x="118237" y="2929509"/>
                    <a:pt x="76200" y="2929509"/>
                  </a:cubicBezTo>
                  <a:cubicBezTo>
                    <a:pt x="34163" y="2929509"/>
                    <a:pt x="0" y="2895346"/>
                    <a:pt x="0" y="2853309"/>
                  </a:cubicBezTo>
                  <a:close/>
                </a:path>
              </a:pathLst>
            </a:custGeom>
            <a:solidFill>
              <a:srgbClr val="DA33BF"/>
            </a:solidFill>
            <a:ln w="12700">
              <a:solidFill>
                <a:srgbClr val="000000"/>
              </a:solidFill>
            </a:ln>
          </p:spPr>
          <p:txBody>
            <a:bodyPr/>
            <a:lstStyle/>
            <a:p>
              <a:endParaRPr lang="en-US" dirty="0">
                <a:latin typeface="Times New Roman" panose="02020603050405020304" pitchFamily="18" charset="0"/>
                <a:cs typeface="Times New Roman" panose="02020603050405020304" pitchFamily="18" charset="0"/>
              </a:endParaRPr>
            </a:p>
          </p:txBody>
        </p:sp>
      </p:grpSp>
      <p:sp>
        <p:nvSpPr>
          <p:cNvPr id="27" name="TextBox 27"/>
          <p:cNvSpPr txBox="1"/>
          <p:nvPr/>
        </p:nvSpPr>
        <p:spPr>
          <a:xfrm>
            <a:off x="10257663" y="6637887"/>
            <a:ext cx="4219870" cy="314189"/>
          </a:xfrm>
          <a:prstGeom prst="rect">
            <a:avLst/>
          </a:prstGeom>
        </p:spPr>
        <p:txBody>
          <a:bodyPr lIns="0" tIns="0" rIns="0" bIns="0" rtlCol="0" anchor="t">
            <a:spAutoFit/>
          </a:bodyPr>
          <a:lstStyle/>
          <a:p>
            <a:pPr algn="l">
              <a:lnSpc>
                <a:spcPts val="2699"/>
              </a:lnSpc>
            </a:pPr>
            <a:r>
              <a:rPr lang="en-US" sz="1812" b="1" dirty="0">
                <a:solidFill>
                  <a:srgbClr val="00002E"/>
                </a:solidFill>
                <a:latin typeface="Times New Roman" panose="02020603050405020304" pitchFamily="18" charset="0"/>
                <a:ea typeface="Times New Roman Bold"/>
                <a:cs typeface="Times New Roman" panose="02020603050405020304" pitchFamily="18" charset="0"/>
                <a:sym typeface="Times New Roman Bold"/>
              </a:rPr>
              <a:t>Project Continuation/ What Next</a:t>
            </a:r>
          </a:p>
        </p:txBody>
      </p:sp>
      <p:sp>
        <p:nvSpPr>
          <p:cNvPr id="28" name="TextBox 28"/>
          <p:cNvSpPr txBox="1"/>
          <p:nvPr/>
        </p:nvSpPr>
        <p:spPr>
          <a:xfrm>
            <a:off x="10257644" y="7124386"/>
            <a:ext cx="4387129" cy="1439689"/>
          </a:xfrm>
          <a:prstGeom prst="rect">
            <a:avLst/>
          </a:prstGeom>
        </p:spPr>
        <p:txBody>
          <a:bodyPr lIns="0" tIns="0" rIns="0" bIns="0" rtlCol="0" anchor="t">
            <a:spAutoFit/>
          </a:bodyPr>
          <a:lstStyle/>
          <a:p>
            <a:pPr algn="just">
              <a:lnSpc>
                <a:spcPts val="2925"/>
              </a:lnSpc>
            </a:pPr>
            <a:r>
              <a:rPr lang="en-US" sz="1500" dirty="0">
                <a:solidFill>
                  <a:srgbClr val="00002E"/>
                </a:solidFill>
                <a:latin typeface="Times New Roman" panose="02020603050405020304" pitchFamily="18" charset="0"/>
                <a:ea typeface="Times New Roman"/>
                <a:cs typeface="Times New Roman" panose="02020603050405020304" pitchFamily="18" charset="0"/>
                <a:sym typeface="Times New Roman"/>
              </a:rPr>
              <a:t>The current work establishes a strong foundation by implementing AES and hybrid encryption models. Future work includes system with parallel processing, GPU acceleration, and advanced key lifecycle management.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1FF"/>
        </a:solidFill>
        <a:effectLst/>
      </p:bgPr>
    </p:bg>
    <p:spTree>
      <p:nvGrpSpPr>
        <p:cNvPr id="1" name=""/>
        <p:cNvGrpSpPr/>
        <p:nvPr/>
      </p:nvGrpSpPr>
      <p:grpSpPr>
        <a:xfrm>
          <a:off x="0" y="0"/>
          <a:ext cx="0" cy="0"/>
          <a:chOff x="0" y="0"/>
          <a:chExt cx="0" cy="0"/>
        </a:xfrm>
      </p:grpSpPr>
      <p:sp>
        <p:nvSpPr>
          <p:cNvPr id="5" name="TextBox 5"/>
          <p:cNvSpPr txBox="1"/>
          <p:nvPr/>
        </p:nvSpPr>
        <p:spPr>
          <a:xfrm>
            <a:off x="1028700" y="1561841"/>
            <a:ext cx="2648026" cy="581891"/>
          </a:xfrm>
          <a:prstGeom prst="rect">
            <a:avLst/>
          </a:prstGeom>
        </p:spPr>
        <p:txBody>
          <a:bodyPr lIns="0" tIns="0" rIns="0" bIns="0" rtlCol="0" anchor="t">
            <a:spAutoFit/>
          </a:bodyPr>
          <a:lstStyle/>
          <a:p>
            <a:pPr algn="l">
              <a:lnSpc>
                <a:spcPts val="4799"/>
              </a:lnSpc>
            </a:pPr>
            <a:r>
              <a:rPr lang="en-US" sz="3999"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Conclusion:  </a:t>
            </a:r>
          </a:p>
        </p:txBody>
      </p:sp>
      <p:sp>
        <p:nvSpPr>
          <p:cNvPr id="6" name="TextBox 6"/>
          <p:cNvSpPr txBox="1"/>
          <p:nvPr/>
        </p:nvSpPr>
        <p:spPr>
          <a:xfrm>
            <a:off x="1028700" y="2875107"/>
            <a:ext cx="16804450" cy="3758465"/>
          </a:xfrm>
          <a:prstGeom prst="rect">
            <a:avLst/>
          </a:prstGeom>
        </p:spPr>
        <p:txBody>
          <a:bodyPr lIns="0" tIns="0" rIns="0" bIns="0" rtlCol="0" anchor="t">
            <a:spAutoFit/>
          </a:bodyPr>
          <a:lstStyle/>
          <a:p>
            <a:pPr algn="just">
              <a:lnSpc>
                <a:spcPts val="3727"/>
              </a:lnSpc>
            </a:pPr>
            <a:r>
              <a:rPr lang="en-US" sz="27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Summary</a:t>
            </a:r>
            <a:r>
              <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rPr>
              <a:t> : This project presents a comparative analysis of AES encryption and a hybrid cryptographic approach to improve data security. By combining the speed of AES with the secure key exchange capability of asymmetric encryption, the proposed system achieves a balance between performance and security. Experimental results and benchmarking demonstrate that hybrid encryption provides enhanced protection with acceptable performance overhead.</a:t>
            </a:r>
          </a:p>
          <a:p>
            <a:pPr algn="just">
              <a:lnSpc>
                <a:spcPts val="3727"/>
              </a:lnSpc>
            </a:pPr>
            <a:endPar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just">
              <a:lnSpc>
                <a:spcPts val="3727"/>
              </a:lnSpc>
            </a:pPr>
            <a:r>
              <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rPr>
              <a:t>In conclusion, our project shows that hybrid encryption is more secure than AES alone while maintaining good performance. It is useful for real-world applications like cloud security and secure data transmission and provides scope for future enhancements.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1FF"/>
        </a:solidFill>
        <a:effectLst/>
      </p:bgPr>
    </p:bg>
    <p:spTree>
      <p:nvGrpSpPr>
        <p:cNvPr id="1" name=""/>
        <p:cNvGrpSpPr/>
        <p:nvPr/>
      </p:nvGrpSpPr>
      <p:grpSpPr>
        <a:xfrm>
          <a:off x="0" y="0"/>
          <a:ext cx="0" cy="0"/>
          <a:chOff x="0" y="0"/>
          <a:chExt cx="0" cy="0"/>
        </a:xfrm>
      </p:grpSpPr>
      <p:sp>
        <p:nvSpPr>
          <p:cNvPr id="5" name="TextBox 5"/>
          <p:cNvSpPr txBox="1"/>
          <p:nvPr/>
        </p:nvSpPr>
        <p:spPr>
          <a:xfrm>
            <a:off x="1258058" y="1409700"/>
            <a:ext cx="16124507" cy="7583807"/>
          </a:xfrm>
          <a:prstGeom prst="rect">
            <a:avLst/>
          </a:prstGeom>
        </p:spPr>
        <p:txBody>
          <a:bodyPr lIns="0" tIns="0" rIns="0" bIns="0" rtlCol="0" anchor="t">
            <a:spAutoFit/>
          </a:bodyPr>
          <a:lstStyle/>
          <a:p>
            <a:pPr algn="just">
              <a:lnSpc>
                <a:spcPts val="3283"/>
              </a:lnSpc>
            </a:pPr>
            <a:r>
              <a:rPr lang="en-US" sz="2400" b="1"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Daemen, J., &amp; Rijmen, V., "The Design of Rijndael: AES — The Advanced Encryption Standard", </a:t>
            </a:r>
            <a:r>
              <a:rPr lang="en-US" sz="2400" dirty="0" err="1">
                <a:latin typeface="Times New Roman" panose="02020603050405020304" pitchFamily="18" charset="0"/>
                <a:cs typeface="Times New Roman" panose="02020603050405020304" pitchFamily="18" charset="0"/>
              </a:rPr>
              <a:t>SpringerVerlag</a:t>
            </a:r>
            <a:r>
              <a:rPr lang="en-US" sz="2400" dirty="0">
                <a:latin typeface="Times New Roman" panose="02020603050405020304" pitchFamily="18" charset="0"/>
                <a:cs typeface="Times New Roman" panose="02020603050405020304" pitchFamily="18" charset="0"/>
              </a:rPr>
              <a:t>, 2002. </a:t>
            </a:r>
          </a:p>
          <a:p>
            <a:pPr algn="just">
              <a:lnSpc>
                <a:spcPts val="3283"/>
              </a:lnSpc>
            </a:pPr>
            <a:endParaRPr lang="en-US" sz="2400" dirty="0">
              <a:latin typeface="Times New Roman" panose="02020603050405020304" pitchFamily="18" charset="0"/>
              <a:cs typeface="Times New Roman" panose="02020603050405020304" pitchFamily="18" charset="0"/>
            </a:endParaRPr>
          </a:p>
          <a:p>
            <a:pPr algn="just">
              <a:lnSpc>
                <a:spcPts val="3283"/>
              </a:lnSpc>
            </a:pPr>
            <a:r>
              <a:rPr lang="en-US" sz="2400" b="1" dirty="0">
                <a:latin typeface="Times New Roman" panose="02020603050405020304" pitchFamily="18" charset="0"/>
                <a:cs typeface="Times New Roman" panose="02020603050405020304" pitchFamily="18" charset="0"/>
              </a:rPr>
              <a:t>[2] </a:t>
            </a:r>
            <a:r>
              <a:rPr lang="en-US" sz="2400" dirty="0">
                <a:latin typeface="Times New Roman" panose="02020603050405020304" pitchFamily="18" charset="0"/>
                <a:cs typeface="Times New Roman" panose="02020603050405020304" pitchFamily="18" charset="0"/>
              </a:rPr>
              <a:t>Tuchman, W., Hellman Presents No Shortcut Solutions to DES, IEEE Spectrum, 1979 of DES Motivation for stronger encryption standards (3DES context) Used for Historical background </a:t>
            </a:r>
          </a:p>
          <a:p>
            <a:pPr algn="just">
              <a:lnSpc>
                <a:spcPts val="3283"/>
              </a:lnSpc>
            </a:pPr>
            <a:endParaRPr lang="en-US" sz="2400" dirty="0">
              <a:latin typeface="Times New Roman" panose="02020603050405020304" pitchFamily="18" charset="0"/>
              <a:cs typeface="Times New Roman" panose="02020603050405020304" pitchFamily="18" charset="0"/>
            </a:endParaRPr>
          </a:p>
          <a:p>
            <a:pPr algn="just">
              <a:lnSpc>
                <a:spcPts val="3283"/>
              </a:lnSpc>
            </a:pPr>
            <a:r>
              <a:rPr lang="en-US" sz="2400" b="1" dirty="0">
                <a:latin typeface="Times New Roman" panose="02020603050405020304" pitchFamily="18" charset="0"/>
                <a:cs typeface="Times New Roman" panose="02020603050405020304" pitchFamily="18" charset="0"/>
              </a:rPr>
              <a:t>[3] </a:t>
            </a:r>
            <a:r>
              <a:rPr lang="en-US" sz="2400" dirty="0">
                <a:latin typeface="Times New Roman" panose="02020603050405020304" pitchFamily="18" charset="0"/>
                <a:cs typeface="Times New Roman" panose="02020603050405020304" pitchFamily="18" charset="0"/>
              </a:rPr>
              <a:t>Stallings, W., "Cryptography and Network Security: Principles and Practice", Pearson Education, 2016. </a:t>
            </a:r>
          </a:p>
          <a:p>
            <a:pPr algn="just">
              <a:lnSpc>
                <a:spcPts val="3283"/>
              </a:lnSpc>
            </a:pPr>
            <a:endParaRPr lang="en-US" sz="2400" dirty="0">
              <a:latin typeface="Times New Roman" panose="02020603050405020304" pitchFamily="18" charset="0"/>
              <a:cs typeface="Times New Roman" panose="02020603050405020304" pitchFamily="18" charset="0"/>
            </a:endParaRPr>
          </a:p>
          <a:p>
            <a:pPr algn="just">
              <a:lnSpc>
                <a:spcPts val="3283"/>
              </a:lnSpc>
            </a:pPr>
            <a:r>
              <a:rPr lang="en-US" sz="2400" b="1" dirty="0">
                <a:latin typeface="Times New Roman" panose="02020603050405020304" pitchFamily="18" charset="0"/>
                <a:cs typeface="Times New Roman" panose="02020603050405020304" pitchFamily="18" charset="0"/>
              </a:rPr>
              <a:t>[4] </a:t>
            </a:r>
            <a:r>
              <a:rPr lang="en-US" sz="2400" dirty="0">
                <a:latin typeface="Times New Roman" panose="02020603050405020304" pitchFamily="18" charset="0"/>
                <a:cs typeface="Times New Roman" panose="02020603050405020304" pitchFamily="18" charset="0"/>
              </a:rPr>
              <a:t>Khan, M., RSA and AES Based Hybrid Encryption Technique for Enhancing Data Security in Cloud Computing, International Journal of Research and Analytical Reviews, 2023. </a:t>
            </a:r>
          </a:p>
          <a:p>
            <a:pPr algn="just">
              <a:lnSpc>
                <a:spcPts val="3283"/>
              </a:lnSpc>
            </a:pPr>
            <a:endParaRPr lang="en-US" sz="2400" dirty="0">
              <a:latin typeface="Times New Roman" panose="02020603050405020304" pitchFamily="18" charset="0"/>
              <a:cs typeface="Times New Roman" panose="02020603050405020304" pitchFamily="18" charset="0"/>
            </a:endParaRPr>
          </a:p>
          <a:p>
            <a:pPr algn="just">
              <a:lnSpc>
                <a:spcPts val="3283"/>
              </a:lnSpc>
            </a:pPr>
            <a:r>
              <a:rPr lang="en-US" sz="2400" b="1" dirty="0">
                <a:latin typeface="Times New Roman" panose="02020603050405020304" pitchFamily="18" charset="0"/>
                <a:cs typeface="Times New Roman" panose="02020603050405020304" pitchFamily="18" charset="0"/>
              </a:rPr>
              <a:t>[5] </a:t>
            </a:r>
            <a:r>
              <a:rPr lang="en-US" sz="2400" dirty="0">
                <a:latin typeface="Times New Roman" panose="02020603050405020304" pitchFamily="18" charset="0"/>
                <a:cs typeface="Times New Roman" panose="02020603050405020304" pitchFamily="18" charset="0"/>
              </a:rPr>
              <a:t>Bharti, J., &amp; Singh, S., A Hybrid Approach Using AES-RSA Encryption for Cloud Data Security, International Journal of Intelligent Systems and Applications in Engineering, 2024.</a:t>
            </a:r>
          </a:p>
          <a:p>
            <a:pPr algn="just">
              <a:lnSpc>
                <a:spcPts val="3283"/>
              </a:lnSpc>
            </a:pPr>
            <a:endParaRPr lang="en-US" sz="2800" dirty="0">
              <a:latin typeface="Times New Roman" panose="02020603050405020304" pitchFamily="18" charset="0"/>
              <a:cs typeface="Times New Roman" panose="02020603050405020304" pitchFamily="18" charset="0"/>
            </a:endParaRPr>
          </a:p>
          <a:p>
            <a:pPr algn="just">
              <a:lnSpc>
                <a:spcPts val="3283"/>
              </a:lnSpc>
            </a:pPr>
            <a:r>
              <a:rPr lang="en-US" sz="2400" b="1" dirty="0">
                <a:latin typeface="Times New Roman" panose="02020603050405020304" pitchFamily="18" charset="0"/>
                <a:cs typeface="Times New Roman" panose="02020603050405020304" pitchFamily="18" charset="0"/>
              </a:rPr>
              <a:t>[6] </a:t>
            </a:r>
            <a:r>
              <a:rPr lang="en-US" sz="2400" dirty="0" err="1">
                <a:latin typeface="Times New Roman" panose="02020603050405020304" pitchFamily="18" charset="0"/>
                <a:cs typeface="Times New Roman" panose="02020603050405020304" pitchFamily="18" charset="0"/>
              </a:rPr>
              <a:t>Ahialey</a:t>
            </a:r>
            <a:r>
              <a:rPr lang="en-US" sz="2400" dirty="0">
                <a:latin typeface="Times New Roman" panose="02020603050405020304" pitchFamily="18" charset="0"/>
                <a:cs typeface="Times New Roman" panose="02020603050405020304" pitchFamily="18" charset="0"/>
              </a:rPr>
              <a:t>, A., Hybrid Encryption Models for Optimal Balance of Security, Scalability, and Computational Efficiency in Cloud Computing, </a:t>
            </a:r>
            <a:r>
              <a:rPr lang="en-US" sz="2400" dirty="0" err="1">
                <a:latin typeface="Times New Roman" panose="02020603050405020304" pitchFamily="18" charset="0"/>
                <a:cs typeface="Times New Roman" panose="02020603050405020304" pitchFamily="18" charset="0"/>
              </a:rPr>
              <a:t>Cureus</a:t>
            </a:r>
            <a:r>
              <a:rPr lang="en-US" sz="2400" dirty="0">
                <a:latin typeface="Times New Roman" panose="02020603050405020304" pitchFamily="18" charset="0"/>
                <a:cs typeface="Times New Roman" panose="02020603050405020304" pitchFamily="18" charset="0"/>
              </a:rPr>
              <a:t> Journal, 2025. </a:t>
            </a:r>
          </a:p>
          <a:p>
            <a:pPr algn="just">
              <a:lnSpc>
                <a:spcPts val="3283"/>
              </a:lnSpc>
            </a:pPr>
            <a:endParaRPr lang="en-US" sz="2400" dirty="0">
              <a:latin typeface="Times New Roman" panose="02020603050405020304" pitchFamily="18" charset="0"/>
              <a:cs typeface="Times New Roman" panose="02020603050405020304" pitchFamily="18" charset="0"/>
            </a:endParaRPr>
          </a:p>
          <a:p>
            <a:pPr algn="just">
              <a:lnSpc>
                <a:spcPts val="3283"/>
              </a:lnSpc>
            </a:pPr>
            <a:r>
              <a:rPr lang="en-US" sz="2400" b="1" dirty="0">
                <a:latin typeface="Times New Roman" panose="02020603050405020304" pitchFamily="18" charset="0"/>
                <a:cs typeface="Times New Roman" panose="02020603050405020304" pitchFamily="18" charset="0"/>
              </a:rPr>
              <a:t>[7] </a:t>
            </a:r>
            <a:r>
              <a:rPr lang="en-US" sz="2400" dirty="0" err="1">
                <a:latin typeface="Times New Roman" panose="02020603050405020304" pitchFamily="18" charset="0"/>
                <a:cs typeface="Times New Roman" panose="02020603050405020304" pitchFamily="18" charset="0"/>
              </a:rPr>
              <a:t>Elkabbany</a:t>
            </a:r>
            <a:r>
              <a:rPr lang="en-US" sz="2400" dirty="0">
                <a:latin typeface="Times New Roman" panose="02020603050405020304" pitchFamily="18" charset="0"/>
                <a:cs typeface="Times New Roman" panose="02020603050405020304" pitchFamily="18" charset="0"/>
              </a:rPr>
              <a:t>, G. F., Aslan, H. K., &amp; Rasslan, M. N., A Design of a Fast Parallel-Pipelined Implementation of AES, arXiv:1501.01427, 2015.</a:t>
            </a:r>
            <a:endParaRPr lang="en-US" sz="24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6" name="TextBox 6"/>
          <p:cNvSpPr txBox="1"/>
          <p:nvPr/>
        </p:nvSpPr>
        <p:spPr>
          <a:xfrm>
            <a:off x="1258058" y="622583"/>
            <a:ext cx="7903654" cy="545534"/>
          </a:xfrm>
          <a:prstGeom prst="rect">
            <a:avLst/>
          </a:prstGeom>
        </p:spPr>
        <p:txBody>
          <a:bodyPr lIns="0" tIns="0" rIns="0" bIns="0" rtlCol="0" anchor="t">
            <a:spAutoFit/>
          </a:bodyPr>
          <a:lstStyle/>
          <a:p>
            <a:pPr algn="l">
              <a:lnSpc>
                <a:spcPts val="4499"/>
              </a:lnSpc>
            </a:pPr>
            <a:r>
              <a:rPr lang="en-US" sz="3749"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References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F17309B-A386-2E60-45AA-BB55198CCCFE}"/>
              </a:ext>
            </a:extLst>
          </p:cNvPr>
          <p:cNvSpPr txBox="1"/>
          <p:nvPr/>
        </p:nvSpPr>
        <p:spPr>
          <a:xfrm>
            <a:off x="2057400" y="3373785"/>
            <a:ext cx="15240000" cy="3539430"/>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Research article Title : Design and Educational Implementation of a Web-Based Hybrid Encryption </a:t>
            </a:r>
          </a:p>
          <a:p>
            <a:r>
              <a:rPr lang="en-US" sz="2800" dirty="0">
                <a:latin typeface="Times New Roman" panose="02020603050405020304" pitchFamily="18" charset="0"/>
                <a:cs typeface="Times New Roman" panose="02020603050405020304" pitchFamily="18" charset="0"/>
              </a:rPr>
              <a:t>                                          System Using Django</a:t>
            </a:r>
          </a:p>
          <a:p>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Name of The Journal :  IJCRT</a:t>
            </a:r>
          </a:p>
          <a:p>
            <a:r>
              <a:rPr lang="en-US" sz="2800" dirty="0">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Web Resource Link to Access :</a:t>
            </a:r>
          </a:p>
          <a:p>
            <a:endParaRPr lang="en-US" sz="2800" dirty="0">
              <a:solidFill>
                <a:srgbClr val="0070C0"/>
              </a:solidFill>
              <a:latin typeface="Times New Roman" panose="02020603050405020304" pitchFamily="18" charset="0"/>
              <a:cs typeface="Times New Roman" panose="02020603050405020304" pitchFamily="18" charset="0"/>
            </a:endParaRPr>
          </a:p>
          <a:p>
            <a:r>
              <a:rPr lang="en-US" sz="2800" dirty="0">
                <a:solidFill>
                  <a:srgbClr val="0070C0"/>
                </a:solidFill>
                <a:latin typeface="Times New Roman" panose="02020603050405020304" pitchFamily="18" charset="0"/>
                <a:cs typeface="Times New Roman" panose="02020603050405020304" pitchFamily="18" charset="0"/>
              </a:rPr>
              <a:t>      IJCRT Publication Details : https://ijcrt.org/papers/IJCRT2603749.pdf</a:t>
            </a:r>
            <a:endParaRPr lang="en-US" sz="2800" dirty="0"/>
          </a:p>
        </p:txBody>
      </p:sp>
      <p:sp>
        <p:nvSpPr>
          <p:cNvPr id="3" name="TextBox 2">
            <a:extLst>
              <a:ext uri="{FF2B5EF4-FFF2-40B4-BE49-F238E27FC236}">
                <a16:creationId xmlns:a16="http://schemas.microsoft.com/office/drawing/2014/main" id="{0264164D-080C-5FAD-A2F5-4B53A3A5D9FF}"/>
              </a:ext>
            </a:extLst>
          </p:cNvPr>
          <p:cNvSpPr txBox="1"/>
          <p:nvPr/>
        </p:nvSpPr>
        <p:spPr>
          <a:xfrm>
            <a:off x="2209800" y="1562100"/>
            <a:ext cx="15240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Dissemination of The Work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5228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C1189342-7EAB-42DA-4FC4-8AD7AD822791}"/>
              </a:ext>
            </a:extLst>
          </p:cNvPr>
          <p:cNvGrpSpPr/>
          <p:nvPr/>
        </p:nvGrpSpPr>
        <p:grpSpPr>
          <a:xfrm>
            <a:off x="0" y="0"/>
            <a:ext cx="18288000" cy="10287000"/>
            <a:chOff x="0" y="0"/>
            <a:chExt cx="24384000" cy="13716000"/>
          </a:xfrm>
        </p:grpSpPr>
        <p:sp>
          <p:nvSpPr>
            <p:cNvPr id="3" name="Freeform 4">
              <a:extLst>
                <a:ext uri="{FF2B5EF4-FFF2-40B4-BE49-F238E27FC236}">
                  <a16:creationId xmlns:a16="http://schemas.microsoft.com/office/drawing/2014/main" id="{6026E99C-80D3-11A1-6CCC-7202AF7CC151}"/>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3F3FF">
                <a:alpha val="56078"/>
              </a:srgbClr>
            </a:solidFill>
            <a:ln w="12700">
              <a:solidFill>
                <a:srgbClr val="000000"/>
              </a:solidFill>
            </a:ln>
          </p:spPr>
          <p:txBody>
            <a:bodyPr/>
            <a:lstStyle/>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                                                      </a:t>
              </a:r>
              <a:r>
                <a:rPr lang="en-US" sz="7200" b="1" dirty="0">
                  <a:latin typeface="Times New Roman" panose="02020603050405020304" pitchFamily="18" charset="0"/>
                  <a:cs typeface="Times New Roman" panose="02020603050405020304" pitchFamily="18" charset="0"/>
                </a:rPr>
                <a:t>Thank You…</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t>
              </a:r>
            </a:p>
          </p:txBody>
        </p:sp>
      </p:grpSp>
    </p:spTree>
    <p:extLst>
      <p:ext uri="{BB962C8B-B14F-4D97-AF65-F5344CB8AC3E}">
        <p14:creationId xmlns:p14="http://schemas.microsoft.com/office/powerpoint/2010/main" val="206537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384</TotalTime>
  <Words>2079</Words>
  <Application>Microsoft Office PowerPoint</Application>
  <PresentationFormat>Custom</PresentationFormat>
  <Paragraphs>284</Paragraphs>
  <Slides>21</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Batch 10 Review-1.pptx</dc:title>
  <dc:creator>VICKY</dc:creator>
  <cp:lastModifiedBy>shyam kumar</cp:lastModifiedBy>
  <cp:revision>64</cp:revision>
  <dcterms:created xsi:type="dcterms:W3CDTF">2006-08-16T00:00:00Z</dcterms:created>
  <dcterms:modified xsi:type="dcterms:W3CDTF">2026-04-22T09:48:22Z</dcterms:modified>
  <dc:identifier>DAG-8F_lMNI</dc:identifier>
</cp:coreProperties>
</file>